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ptos" charset="1" panose="020B0004020202020204"/>
      <p:regular r:id="rId15"/>
    </p:embeddedFont>
    <p:embeddedFont>
      <p:font typeface="Aptos Bold" charset="1" panose="020B0004020202020204"/>
      <p:regular r:id="rId16"/>
    </p:embeddedFont>
    <p:embeddedFont>
      <p:font typeface="Canva Sans Bold" charset="1" panose="020B0803030501040103"/>
      <p:regular r:id="rId17"/>
    </p:embeddedFont>
    <p:embeddedFont>
      <p:font typeface="Aptos Bold Italics" charset="1" panose="020B0004020202090204"/>
      <p:regular r:id="rId19"/>
    </p:embeddedFont>
    <p:embeddedFont>
      <p:font typeface="Aptos Italics" charset="1" panose="020B000402020209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0274" y="281444"/>
            <a:ext cx="17341575" cy="9747958"/>
            <a:chOff x="0" y="0"/>
            <a:chExt cx="4567328" cy="25673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7328" cy="2567363"/>
            </a:xfrm>
            <a:custGeom>
              <a:avLst/>
              <a:gdLst/>
              <a:ahLst/>
              <a:cxnLst/>
              <a:rect r="r" b="b" t="t" l="l"/>
              <a:pathLst>
                <a:path h="2567363" w="4567328">
                  <a:moveTo>
                    <a:pt x="7589" y="0"/>
                  </a:moveTo>
                  <a:lnTo>
                    <a:pt x="4559739" y="0"/>
                  </a:lnTo>
                  <a:cubicBezTo>
                    <a:pt x="4563930" y="0"/>
                    <a:pt x="4567328" y="3398"/>
                    <a:pt x="4567328" y="7589"/>
                  </a:cubicBezTo>
                  <a:lnTo>
                    <a:pt x="4567328" y="2559774"/>
                  </a:lnTo>
                  <a:cubicBezTo>
                    <a:pt x="4567328" y="2563966"/>
                    <a:pt x="4563930" y="2567363"/>
                    <a:pt x="4559739" y="2567363"/>
                  </a:cubicBezTo>
                  <a:lnTo>
                    <a:pt x="7589" y="2567363"/>
                  </a:lnTo>
                  <a:cubicBezTo>
                    <a:pt x="3398" y="2567363"/>
                    <a:pt x="0" y="2563966"/>
                    <a:pt x="0" y="2559774"/>
                  </a:cubicBezTo>
                  <a:lnTo>
                    <a:pt x="0" y="7589"/>
                  </a:lnTo>
                  <a:cubicBezTo>
                    <a:pt x="0" y="3398"/>
                    <a:pt x="3398" y="0"/>
                    <a:pt x="7589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567328" cy="2576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17098" y="561915"/>
            <a:ext cx="4688299" cy="1429458"/>
            <a:chOff x="0" y="0"/>
            <a:chExt cx="1762760" cy="5374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1737360" cy="512064"/>
            </a:xfrm>
            <a:custGeom>
              <a:avLst/>
              <a:gdLst/>
              <a:ahLst/>
              <a:cxnLst/>
              <a:rect r="r" b="b" t="t" l="l"/>
              <a:pathLst>
                <a:path h="512064" w="1737360">
                  <a:moveTo>
                    <a:pt x="0" y="146304"/>
                  </a:moveTo>
                  <a:cubicBezTo>
                    <a:pt x="0" y="65532"/>
                    <a:pt x="67818" y="0"/>
                    <a:pt x="151384" y="0"/>
                  </a:cubicBezTo>
                  <a:lnTo>
                    <a:pt x="1585976" y="0"/>
                  </a:lnTo>
                  <a:cubicBezTo>
                    <a:pt x="1669542" y="0"/>
                    <a:pt x="1737360" y="65532"/>
                    <a:pt x="1737360" y="146304"/>
                  </a:cubicBezTo>
                  <a:lnTo>
                    <a:pt x="1737360" y="365760"/>
                  </a:lnTo>
                  <a:cubicBezTo>
                    <a:pt x="1737360" y="446532"/>
                    <a:pt x="1669542" y="512064"/>
                    <a:pt x="1585976" y="512064"/>
                  </a:cubicBezTo>
                  <a:lnTo>
                    <a:pt x="151384" y="512064"/>
                  </a:lnTo>
                  <a:cubicBezTo>
                    <a:pt x="67818" y="512064"/>
                    <a:pt x="0" y="446532"/>
                    <a:pt x="0" y="365760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62760" cy="537464"/>
            </a:xfrm>
            <a:custGeom>
              <a:avLst/>
              <a:gdLst/>
              <a:ahLst/>
              <a:cxnLst/>
              <a:rect r="r" b="b" t="t" l="l"/>
              <a:pathLst>
                <a:path h="537464" w="1762760">
                  <a:moveTo>
                    <a:pt x="0" y="159004"/>
                  </a:moveTo>
                  <a:cubicBezTo>
                    <a:pt x="0" y="70739"/>
                    <a:pt x="73914" y="0"/>
                    <a:pt x="164084" y="0"/>
                  </a:cubicBezTo>
                  <a:lnTo>
                    <a:pt x="1598676" y="0"/>
                  </a:lnTo>
                  <a:lnTo>
                    <a:pt x="1598676" y="12700"/>
                  </a:lnTo>
                  <a:lnTo>
                    <a:pt x="1598676" y="0"/>
                  </a:lnTo>
                  <a:cubicBezTo>
                    <a:pt x="1688846" y="0"/>
                    <a:pt x="1762760" y="70739"/>
                    <a:pt x="1762760" y="159004"/>
                  </a:cubicBezTo>
                  <a:lnTo>
                    <a:pt x="1750060" y="159004"/>
                  </a:lnTo>
                  <a:lnTo>
                    <a:pt x="1762760" y="159004"/>
                  </a:lnTo>
                  <a:lnTo>
                    <a:pt x="1762760" y="378460"/>
                  </a:lnTo>
                  <a:lnTo>
                    <a:pt x="1750060" y="378460"/>
                  </a:lnTo>
                  <a:lnTo>
                    <a:pt x="1762760" y="378460"/>
                  </a:lnTo>
                  <a:cubicBezTo>
                    <a:pt x="1762760" y="466725"/>
                    <a:pt x="1688846" y="537464"/>
                    <a:pt x="1598676" y="537464"/>
                  </a:cubicBezTo>
                  <a:lnTo>
                    <a:pt x="1598676" y="524764"/>
                  </a:lnTo>
                  <a:lnTo>
                    <a:pt x="1598676" y="537464"/>
                  </a:lnTo>
                  <a:lnTo>
                    <a:pt x="164084" y="537464"/>
                  </a:lnTo>
                  <a:lnTo>
                    <a:pt x="164084" y="524764"/>
                  </a:lnTo>
                  <a:lnTo>
                    <a:pt x="164084" y="537464"/>
                  </a:lnTo>
                  <a:cubicBezTo>
                    <a:pt x="73914" y="537464"/>
                    <a:pt x="0" y="466725"/>
                    <a:pt x="0" y="378460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378460"/>
                  </a:lnTo>
                  <a:lnTo>
                    <a:pt x="12700" y="378460"/>
                  </a:lnTo>
                  <a:lnTo>
                    <a:pt x="25400" y="378460"/>
                  </a:lnTo>
                  <a:cubicBezTo>
                    <a:pt x="25400" y="451866"/>
                    <a:pt x="87122" y="512064"/>
                    <a:pt x="164084" y="512064"/>
                  </a:cubicBezTo>
                  <a:lnTo>
                    <a:pt x="1598676" y="512064"/>
                  </a:lnTo>
                  <a:cubicBezTo>
                    <a:pt x="1675638" y="512064"/>
                    <a:pt x="1737360" y="451866"/>
                    <a:pt x="1737360" y="378460"/>
                  </a:cubicBezTo>
                  <a:lnTo>
                    <a:pt x="1737360" y="159004"/>
                  </a:lnTo>
                  <a:cubicBezTo>
                    <a:pt x="1737360" y="85598"/>
                    <a:pt x="1675638" y="25400"/>
                    <a:pt x="1598676" y="25400"/>
                  </a:cubicBezTo>
                  <a:lnTo>
                    <a:pt x="164084" y="25400"/>
                  </a:lnTo>
                  <a:lnTo>
                    <a:pt x="164084" y="12700"/>
                  </a:lnTo>
                  <a:lnTo>
                    <a:pt x="164084" y="25400"/>
                  </a:lnTo>
                  <a:cubicBezTo>
                    <a:pt x="87122" y="25400"/>
                    <a:pt x="25400" y="85598"/>
                    <a:pt x="25400" y="159004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260" y="9601200"/>
            <a:ext cx="617220" cy="274320"/>
            <a:chOff x="0" y="0"/>
            <a:chExt cx="822960" cy="365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2960" cy="365760"/>
            </a:xfrm>
            <a:custGeom>
              <a:avLst/>
              <a:gdLst/>
              <a:ahLst/>
              <a:cxnLst/>
              <a:rect r="r" b="b" t="t" l="l"/>
              <a:pathLst>
                <a:path h="3657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22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82216" y="1991373"/>
            <a:ext cx="6995160" cy="548640"/>
            <a:chOff x="0" y="0"/>
            <a:chExt cx="932688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93268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D9BCB"/>
                  </a:solidFill>
                  <a:latin typeface="Aptos"/>
                  <a:ea typeface="Aptos"/>
                  <a:cs typeface="Aptos"/>
                  <a:sym typeface="Aptos"/>
                </a:rPr>
                <a:t>Protocol Reflexivity, Insolvency, Stress &amp; Marketability Score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574085" y="2585394"/>
            <a:ext cx="3305711" cy="2970701"/>
          </a:xfrm>
          <a:custGeom>
            <a:avLst/>
            <a:gdLst/>
            <a:ahLst/>
            <a:cxnLst/>
            <a:rect r="r" b="b" t="t" l="l"/>
            <a:pathLst>
              <a:path h="2970701" w="3305711">
                <a:moveTo>
                  <a:pt x="0" y="0"/>
                </a:moveTo>
                <a:lnTo>
                  <a:pt x="3305711" y="0"/>
                </a:lnTo>
                <a:lnTo>
                  <a:pt x="3305711" y="2970701"/>
                </a:lnTo>
                <a:lnTo>
                  <a:pt x="0" y="29707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89" r="0" b="-218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879796" y="2540013"/>
            <a:ext cx="3110716" cy="2970701"/>
          </a:xfrm>
          <a:custGeom>
            <a:avLst/>
            <a:gdLst/>
            <a:ahLst/>
            <a:cxnLst/>
            <a:rect r="r" b="b" t="t" l="l"/>
            <a:pathLst>
              <a:path h="2970701" w="3110716">
                <a:moveTo>
                  <a:pt x="0" y="0"/>
                </a:moveTo>
                <a:lnTo>
                  <a:pt x="3110716" y="0"/>
                </a:lnTo>
                <a:lnTo>
                  <a:pt x="3110716" y="2970701"/>
                </a:lnTo>
                <a:lnTo>
                  <a:pt x="0" y="29707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56" r="0" b="-2356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555536" y="5556095"/>
            <a:ext cx="3305711" cy="3085186"/>
          </a:xfrm>
          <a:custGeom>
            <a:avLst/>
            <a:gdLst/>
            <a:ahLst/>
            <a:cxnLst/>
            <a:rect r="r" b="b" t="t" l="l"/>
            <a:pathLst>
              <a:path h="3085186" w="3305711">
                <a:moveTo>
                  <a:pt x="0" y="0"/>
                </a:moveTo>
                <a:lnTo>
                  <a:pt x="3305711" y="0"/>
                </a:lnTo>
                <a:lnTo>
                  <a:pt x="3305711" y="3085186"/>
                </a:lnTo>
                <a:lnTo>
                  <a:pt x="0" y="30851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7000"/>
            </a:blip>
            <a:stretch>
              <a:fillRect l="0" t="0" r="0" b="-14228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6922458" y="803091"/>
            <a:ext cx="3877578" cy="947105"/>
            <a:chOff x="0" y="0"/>
            <a:chExt cx="1280160" cy="3126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0160" cy="312681"/>
            </a:xfrm>
            <a:custGeom>
              <a:avLst/>
              <a:gdLst/>
              <a:ahLst/>
              <a:cxnLst/>
              <a:rect r="r" b="b" t="t" l="l"/>
              <a:pathLst>
                <a:path h="312681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312681"/>
                  </a:lnTo>
                  <a:lnTo>
                    <a:pt x="0" y="312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84" r="0" b="-2656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280160" cy="322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PRISM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879796" y="5556095"/>
            <a:ext cx="3085186" cy="3085186"/>
          </a:xfrm>
          <a:custGeom>
            <a:avLst/>
            <a:gdLst/>
            <a:ahLst/>
            <a:cxnLst/>
            <a:rect r="r" b="b" t="t" l="l"/>
            <a:pathLst>
              <a:path h="3085186" w="3085186">
                <a:moveTo>
                  <a:pt x="0" y="0"/>
                </a:moveTo>
                <a:lnTo>
                  <a:pt x="3085186" y="0"/>
                </a:lnTo>
                <a:lnTo>
                  <a:pt x="3085186" y="3085186"/>
                </a:lnTo>
                <a:lnTo>
                  <a:pt x="0" y="30851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492226" y="3662088"/>
            <a:ext cx="473804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666B7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FinHack 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43576" y="8425181"/>
            <a:ext cx="12072439" cy="131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Case 3: </a:t>
            </a:r>
          </a:p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Decentralized Finance Risk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49675" y="100203"/>
            <a:ext cx="1253490" cy="1253490"/>
            <a:chOff x="0" y="0"/>
            <a:chExt cx="1671320" cy="1671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A7C7E7">
                <a:alpha val="745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16019" y="566547"/>
            <a:ext cx="348234" cy="348234"/>
            <a:chOff x="0" y="0"/>
            <a:chExt cx="464312" cy="4643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939260" y="9601200"/>
            <a:ext cx="617220" cy="274320"/>
            <a:chOff x="0" y="0"/>
            <a:chExt cx="822960" cy="365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960" cy="365760"/>
            </a:xfrm>
            <a:custGeom>
              <a:avLst/>
              <a:gdLst/>
              <a:ahLst/>
              <a:cxnLst/>
              <a:rect r="r" b="b" t="t" l="l"/>
              <a:pathLst>
                <a:path h="3657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822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8027" y="981456"/>
            <a:ext cx="6035040" cy="983082"/>
            <a:chOff x="0" y="0"/>
            <a:chExt cx="8046720" cy="1310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046720" cy="1310777"/>
            </a:xfrm>
            <a:custGeom>
              <a:avLst/>
              <a:gdLst/>
              <a:ahLst/>
              <a:cxnLst/>
              <a:rect r="r" b="b" t="t" l="l"/>
              <a:pathLst>
                <a:path h="1310777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310777"/>
                  </a:lnTo>
                  <a:lnTo>
                    <a:pt x="0" y="1310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275" r="0" b="-9495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8046720" cy="1320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Problem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5566" y="3274666"/>
            <a:ext cx="16331794" cy="3242936"/>
            <a:chOff x="0" y="0"/>
            <a:chExt cx="18949728" cy="37627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949729" cy="3762768"/>
            </a:xfrm>
            <a:custGeom>
              <a:avLst/>
              <a:gdLst/>
              <a:ahLst/>
              <a:cxnLst/>
              <a:rect r="r" b="b" t="t" l="l"/>
              <a:pathLst>
                <a:path h="3762768" w="18949729">
                  <a:moveTo>
                    <a:pt x="0" y="0"/>
                  </a:moveTo>
                  <a:lnTo>
                    <a:pt x="18949729" y="0"/>
                  </a:lnTo>
                  <a:lnTo>
                    <a:pt x="18949729" y="3762768"/>
                  </a:lnTo>
                  <a:lnTo>
                    <a:pt x="0" y="376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03" r="58501" b="5295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8949728" cy="37627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36901" indent="-318451" lvl="1">
                <a:lnSpc>
                  <a:spcPts val="3539"/>
                </a:lnSpc>
                <a:buFont typeface="Arial"/>
                <a:buChar char="•"/>
              </a:pPr>
              <a:r>
                <a:rPr lang="en-US" b="true" sz="2949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Exit capacity</a:t>
              </a:r>
              <a:r>
                <a:rPr lang="en-US" sz="2949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 is hard to see: big TVL can still mean </a:t>
              </a:r>
              <a:r>
                <a:rPr lang="en-US" b="true" sz="2949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thin real liquidity</a:t>
              </a:r>
              <a:r>
                <a:rPr lang="en-US" sz="2949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 and painful exits.</a:t>
              </a:r>
            </a:p>
            <a:p>
              <a:pPr algn="l" marL="636901" indent="-318451" lvl="1">
                <a:lnSpc>
                  <a:spcPts val="3539"/>
                </a:lnSpc>
                <a:buFont typeface="Arial"/>
                <a:buChar char="•"/>
              </a:pPr>
            </a:p>
            <a:p>
              <a:pPr algn="l" marL="636901" indent="-318451" lvl="1">
                <a:lnSpc>
                  <a:spcPts val="3539"/>
                </a:lnSpc>
                <a:buFont typeface="Arial"/>
                <a:buChar char="•"/>
              </a:pPr>
              <a:r>
                <a:rPr lang="en-US" b="true" sz="2949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Risk is fragmented</a:t>
              </a:r>
              <a:r>
                <a:rPr lang="en-US" sz="2949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: liquidity, borrowers, governance, oracles, supply, and </a:t>
              </a:r>
              <a:r>
                <a:rPr lang="en-US" b="true" sz="2949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news</a:t>
              </a:r>
              <a:r>
                <a:rPr lang="en-US" sz="2949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 live in </a:t>
              </a:r>
              <a:r>
                <a:rPr lang="en-US" b="true" sz="2949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separate tools</a:t>
              </a:r>
              <a:r>
                <a:rPr lang="en-US" sz="2949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  <a:p>
              <a:pPr algn="l" marL="636901" indent="-318451" lvl="1">
                <a:lnSpc>
                  <a:spcPts val="3539"/>
                </a:lnSpc>
                <a:buFont typeface="Arial"/>
                <a:buChar char="•"/>
              </a:pPr>
              <a:r>
                <a:rPr lang="en-US" b="true" sz="2949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Crises compound</a:t>
              </a:r>
              <a:r>
                <a:rPr lang="en-US" sz="2949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: outflows, governance moves, and </a:t>
              </a:r>
              <a:r>
                <a:rPr lang="en-US" b="true" sz="2949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narrative</a:t>
              </a:r>
              <a:r>
                <a:rPr lang="en-US" sz="2949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 often </a:t>
              </a:r>
              <a:r>
                <a:rPr lang="en-US" b="true" sz="2949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move together, </a:t>
              </a:r>
              <a:r>
                <a:rPr lang="en-US" sz="2949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a single headline score misses that dynamic.</a:t>
              </a:r>
            </a:p>
            <a:p>
              <a:pPr algn="l">
                <a:lnSpc>
                  <a:spcPts val="35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2416" y="1964538"/>
            <a:ext cx="10857357" cy="617469"/>
            <a:chOff x="0" y="0"/>
            <a:chExt cx="14476476" cy="8232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476476" cy="823292"/>
            </a:xfrm>
            <a:custGeom>
              <a:avLst/>
              <a:gdLst/>
              <a:ahLst/>
              <a:cxnLst/>
              <a:rect r="r" b="b" t="t" l="l"/>
              <a:pathLst>
                <a:path h="823292" w="14476476">
                  <a:moveTo>
                    <a:pt x="0" y="0"/>
                  </a:moveTo>
                  <a:lnTo>
                    <a:pt x="14476476" y="0"/>
                  </a:lnTo>
                  <a:lnTo>
                    <a:pt x="14476476" y="823292"/>
                  </a:lnTo>
                  <a:lnTo>
                    <a:pt x="0" y="8232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491" r="44415" b="-21039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4476476" cy="823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202124"/>
                  </a:solidFill>
                  <a:latin typeface="Aptos"/>
                  <a:ea typeface="Aptos"/>
                  <a:cs typeface="Aptos"/>
                  <a:sym typeface="Aptos"/>
                </a:rPr>
                <a:t>Institutions don’t lack data; they lack decision-ready risk.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2416" y="5532138"/>
            <a:ext cx="16331794" cy="3173215"/>
            <a:chOff x="0" y="0"/>
            <a:chExt cx="18949728" cy="36818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949729" cy="3681871"/>
            </a:xfrm>
            <a:custGeom>
              <a:avLst/>
              <a:gdLst/>
              <a:ahLst/>
              <a:cxnLst/>
              <a:rect r="r" b="b" t="t" l="l"/>
              <a:pathLst>
                <a:path h="3681871" w="18949729">
                  <a:moveTo>
                    <a:pt x="0" y="0"/>
                  </a:moveTo>
                  <a:lnTo>
                    <a:pt x="18949729" y="0"/>
                  </a:lnTo>
                  <a:lnTo>
                    <a:pt x="18949729" y="3681871"/>
                  </a:lnTo>
                  <a:lnTo>
                    <a:pt x="0" y="36818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59" r="58501" b="5192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8949728" cy="36818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749" b="true">
                  <a:solidFill>
                    <a:srgbClr val="08A7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 Answer:  </a:t>
              </a:r>
              <a:r>
                <a:rPr lang="en-US" sz="2749" i="true" b="true">
                  <a:solidFill>
                    <a:srgbClr val="08A70F"/>
                  </a:solidFill>
                  <a:latin typeface="Aptos Bold Italics"/>
                  <a:ea typeface="Aptos Bold Italics"/>
                  <a:cs typeface="Aptos Bold Italics"/>
                  <a:sym typeface="Aptos Bold Italics"/>
                </a:rPr>
                <a:t>“What’s our posture on this exposure and what would change it?”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3351" y="2850997"/>
            <a:ext cx="16864810" cy="7046785"/>
            <a:chOff x="0" y="0"/>
            <a:chExt cx="16655180" cy="69591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5601" y="9736"/>
              <a:ext cx="16623978" cy="6939721"/>
            </a:xfrm>
            <a:custGeom>
              <a:avLst/>
              <a:gdLst/>
              <a:ahLst/>
              <a:cxnLst/>
              <a:rect r="r" b="b" t="t" l="l"/>
              <a:pathLst>
                <a:path h="6939721" w="16623978">
                  <a:moveTo>
                    <a:pt x="0" y="112157"/>
                  </a:moveTo>
                  <a:cubicBezTo>
                    <a:pt x="0" y="50237"/>
                    <a:pt x="80499" y="0"/>
                    <a:pt x="179874" y="0"/>
                  </a:cubicBezTo>
                  <a:lnTo>
                    <a:pt x="16444103" y="0"/>
                  </a:lnTo>
                  <a:cubicBezTo>
                    <a:pt x="16543478" y="0"/>
                    <a:pt x="16623977" y="50237"/>
                    <a:pt x="16623977" y="112157"/>
                  </a:cubicBezTo>
                  <a:lnTo>
                    <a:pt x="16623977" y="6827564"/>
                  </a:lnTo>
                  <a:cubicBezTo>
                    <a:pt x="16623977" y="6889484"/>
                    <a:pt x="16543478" y="6939721"/>
                    <a:pt x="16444103" y="6939721"/>
                  </a:cubicBezTo>
                  <a:lnTo>
                    <a:pt x="179874" y="6939721"/>
                  </a:lnTo>
                  <a:cubicBezTo>
                    <a:pt x="80499" y="6939721"/>
                    <a:pt x="0" y="6889484"/>
                    <a:pt x="0" y="682756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55179" cy="6959194"/>
            </a:xfrm>
            <a:custGeom>
              <a:avLst/>
              <a:gdLst/>
              <a:ahLst/>
              <a:cxnLst/>
              <a:rect r="r" b="b" t="t" l="l"/>
              <a:pathLst>
                <a:path h="6959194" w="16655179">
                  <a:moveTo>
                    <a:pt x="0" y="121893"/>
                  </a:moveTo>
                  <a:cubicBezTo>
                    <a:pt x="0" y="54521"/>
                    <a:pt x="87519" y="0"/>
                    <a:pt x="195475" y="0"/>
                  </a:cubicBezTo>
                  <a:lnTo>
                    <a:pt x="16459704" y="0"/>
                  </a:lnTo>
                  <a:lnTo>
                    <a:pt x="16459704" y="9736"/>
                  </a:lnTo>
                  <a:lnTo>
                    <a:pt x="16459704" y="0"/>
                  </a:lnTo>
                  <a:cubicBezTo>
                    <a:pt x="16567660" y="0"/>
                    <a:pt x="16655179" y="54521"/>
                    <a:pt x="16655179" y="121893"/>
                  </a:cubicBezTo>
                  <a:lnTo>
                    <a:pt x="16639578" y="121893"/>
                  </a:lnTo>
                  <a:lnTo>
                    <a:pt x="16655179" y="121893"/>
                  </a:lnTo>
                  <a:lnTo>
                    <a:pt x="16655179" y="6837300"/>
                  </a:lnTo>
                  <a:lnTo>
                    <a:pt x="16639578" y="6837300"/>
                  </a:lnTo>
                  <a:lnTo>
                    <a:pt x="16655179" y="6837300"/>
                  </a:lnTo>
                  <a:cubicBezTo>
                    <a:pt x="16655179" y="6904575"/>
                    <a:pt x="16567660" y="6959194"/>
                    <a:pt x="16459704" y="6959194"/>
                  </a:cubicBezTo>
                  <a:lnTo>
                    <a:pt x="16459704" y="6949457"/>
                  </a:lnTo>
                  <a:lnTo>
                    <a:pt x="16459704" y="6959194"/>
                  </a:lnTo>
                  <a:lnTo>
                    <a:pt x="195475" y="6959194"/>
                  </a:lnTo>
                  <a:lnTo>
                    <a:pt x="195475" y="6949457"/>
                  </a:lnTo>
                  <a:lnTo>
                    <a:pt x="195475" y="6959194"/>
                  </a:lnTo>
                  <a:cubicBezTo>
                    <a:pt x="87519" y="6959193"/>
                    <a:pt x="0" y="6904672"/>
                    <a:pt x="0" y="6837300"/>
                  </a:cubicBezTo>
                  <a:lnTo>
                    <a:pt x="0" y="121893"/>
                  </a:lnTo>
                  <a:lnTo>
                    <a:pt x="15601" y="121893"/>
                  </a:lnTo>
                  <a:lnTo>
                    <a:pt x="0" y="121893"/>
                  </a:lnTo>
                  <a:moveTo>
                    <a:pt x="31201" y="121893"/>
                  </a:moveTo>
                  <a:lnTo>
                    <a:pt x="31201" y="6837300"/>
                  </a:lnTo>
                  <a:lnTo>
                    <a:pt x="15601" y="6837300"/>
                  </a:lnTo>
                  <a:lnTo>
                    <a:pt x="31201" y="6837300"/>
                  </a:lnTo>
                  <a:cubicBezTo>
                    <a:pt x="31201" y="6893865"/>
                    <a:pt x="104680" y="6939721"/>
                    <a:pt x="195475" y="6939721"/>
                  </a:cubicBezTo>
                  <a:lnTo>
                    <a:pt x="16459704" y="6939721"/>
                  </a:lnTo>
                  <a:cubicBezTo>
                    <a:pt x="16550498" y="6939721"/>
                    <a:pt x="16623978" y="6893865"/>
                    <a:pt x="16623978" y="6837300"/>
                  </a:cubicBezTo>
                  <a:lnTo>
                    <a:pt x="16623978" y="121893"/>
                  </a:lnTo>
                  <a:cubicBezTo>
                    <a:pt x="16623978" y="65328"/>
                    <a:pt x="16550498" y="19472"/>
                    <a:pt x="16459704" y="19472"/>
                  </a:cubicBezTo>
                  <a:lnTo>
                    <a:pt x="195475" y="19472"/>
                  </a:lnTo>
                  <a:lnTo>
                    <a:pt x="195475" y="9736"/>
                  </a:lnTo>
                  <a:lnTo>
                    <a:pt x="195475" y="19472"/>
                  </a:lnTo>
                  <a:cubicBezTo>
                    <a:pt x="104680" y="19472"/>
                    <a:pt x="31201" y="65328"/>
                    <a:pt x="31201" y="121893"/>
                  </a:cubicBezTo>
                  <a:close/>
                </a:path>
              </a:pathLst>
            </a:custGeom>
            <a:solidFill>
              <a:srgbClr val="A7C7E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95410" y="3312708"/>
            <a:ext cx="3592509" cy="2495898"/>
            <a:chOff x="0" y="0"/>
            <a:chExt cx="2805176" cy="19488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4041"/>
              <a:ext cx="2779776" cy="1920816"/>
            </a:xfrm>
            <a:custGeom>
              <a:avLst/>
              <a:gdLst/>
              <a:ahLst/>
              <a:cxnLst/>
              <a:rect r="r" b="b" t="t" l="l"/>
              <a:pathLst>
                <a:path h="1920816" w="2779776">
                  <a:moveTo>
                    <a:pt x="0" y="161753"/>
                  </a:moveTo>
                  <a:cubicBezTo>
                    <a:pt x="0" y="72452"/>
                    <a:pt x="65913" y="0"/>
                    <a:pt x="147066" y="0"/>
                  </a:cubicBezTo>
                  <a:lnTo>
                    <a:pt x="2632710" y="0"/>
                  </a:lnTo>
                  <a:cubicBezTo>
                    <a:pt x="2713990" y="0"/>
                    <a:pt x="2779776" y="72452"/>
                    <a:pt x="2779776" y="161753"/>
                  </a:cubicBezTo>
                  <a:lnTo>
                    <a:pt x="2779776" y="1759063"/>
                  </a:lnTo>
                  <a:cubicBezTo>
                    <a:pt x="2779776" y="1848364"/>
                    <a:pt x="2713863" y="1920816"/>
                    <a:pt x="2632710" y="1920816"/>
                  </a:cubicBezTo>
                  <a:lnTo>
                    <a:pt x="147066" y="1920816"/>
                  </a:lnTo>
                  <a:cubicBezTo>
                    <a:pt x="65913" y="1920816"/>
                    <a:pt x="0" y="1848364"/>
                    <a:pt x="0" y="1759063"/>
                  </a:cubicBezTo>
                  <a:close/>
                </a:path>
              </a:pathLst>
            </a:custGeom>
            <a:solidFill>
              <a:srgbClr val="F7F5F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05176" cy="1948898"/>
            </a:xfrm>
            <a:custGeom>
              <a:avLst/>
              <a:gdLst/>
              <a:ahLst/>
              <a:cxnLst/>
              <a:rect r="r" b="b" t="t" l="l"/>
              <a:pathLst>
                <a:path h="1948898" w="2805176">
                  <a:moveTo>
                    <a:pt x="0" y="175794"/>
                  </a:moveTo>
                  <a:cubicBezTo>
                    <a:pt x="0" y="78630"/>
                    <a:pt x="71628" y="0"/>
                    <a:pt x="159766" y="0"/>
                  </a:cubicBezTo>
                  <a:lnTo>
                    <a:pt x="2645410" y="0"/>
                  </a:lnTo>
                  <a:lnTo>
                    <a:pt x="2645410" y="14041"/>
                  </a:lnTo>
                  <a:lnTo>
                    <a:pt x="2645410" y="0"/>
                  </a:lnTo>
                  <a:cubicBezTo>
                    <a:pt x="2733548" y="0"/>
                    <a:pt x="2805176" y="78630"/>
                    <a:pt x="2805176" y="175794"/>
                  </a:cubicBezTo>
                  <a:lnTo>
                    <a:pt x="2805176" y="1773104"/>
                  </a:lnTo>
                  <a:lnTo>
                    <a:pt x="2792476" y="1773104"/>
                  </a:lnTo>
                  <a:lnTo>
                    <a:pt x="2805176" y="1773104"/>
                  </a:lnTo>
                  <a:cubicBezTo>
                    <a:pt x="2805176" y="1870268"/>
                    <a:pt x="2733548" y="1948898"/>
                    <a:pt x="2645410" y="1948898"/>
                  </a:cubicBezTo>
                  <a:lnTo>
                    <a:pt x="2645410" y="1934857"/>
                  </a:lnTo>
                  <a:lnTo>
                    <a:pt x="2645410" y="1948898"/>
                  </a:lnTo>
                  <a:lnTo>
                    <a:pt x="159766" y="1948898"/>
                  </a:lnTo>
                  <a:lnTo>
                    <a:pt x="159766" y="1934857"/>
                  </a:lnTo>
                  <a:lnTo>
                    <a:pt x="159766" y="1948898"/>
                  </a:lnTo>
                  <a:cubicBezTo>
                    <a:pt x="71628" y="1948898"/>
                    <a:pt x="0" y="1870268"/>
                    <a:pt x="0" y="1773104"/>
                  </a:cubicBezTo>
                  <a:lnTo>
                    <a:pt x="0" y="175794"/>
                  </a:lnTo>
                  <a:lnTo>
                    <a:pt x="12700" y="175794"/>
                  </a:lnTo>
                  <a:lnTo>
                    <a:pt x="0" y="175794"/>
                  </a:lnTo>
                  <a:moveTo>
                    <a:pt x="25400" y="175794"/>
                  </a:moveTo>
                  <a:lnTo>
                    <a:pt x="25400" y="1773104"/>
                  </a:lnTo>
                  <a:lnTo>
                    <a:pt x="12700" y="1773104"/>
                  </a:lnTo>
                  <a:lnTo>
                    <a:pt x="25400" y="1773104"/>
                  </a:lnTo>
                  <a:cubicBezTo>
                    <a:pt x="25400" y="1854542"/>
                    <a:pt x="85471" y="1920816"/>
                    <a:pt x="159766" y="1920816"/>
                  </a:cubicBezTo>
                  <a:lnTo>
                    <a:pt x="2645410" y="1920816"/>
                  </a:lnTo>
                  <a:cubicBezTo>
                    <a:pt x="2719705" y="1920816"/>
                    <a:pt x="2779776" y="1854542"/>
                    <a:pt x="2779776" y="1773104"/>
                  </a:cubicBezTo>
                  <a:lnTo>
                    <a:pt x="2779776" y="175794"/>
                  </a:lnTo>
                  <a:lnTo>
                    <a:pt x="2792476" y="175794"/>
                  </a:lnTo>
                  <a:lnTo>
                    <a:pt x="2779776" y="175794"/>
                  </a:lnTo>
                  <a:cubicBezTo>
                    <a:pt x="2779776" y="94356"/>
                    <a:pt x="2719705" y="28082"/>
                    <a:pt x="2645410" y="28082"/>
                  </a:cubicBezTo>
                  <a:lnTo>
                    <a:pt x="159766" y="28082"/>
                  </a:lnTo>
                  <a:lnTo>
                    <a:pt x="159766" y="14041"/>
                  </a:lnTo>
                  <a:lnTo>
                    <a:pt x="159766" y="28082"/>
                  </a:lnTo>
                  <a:cubicBezTo>
                    <a:pt x="85471" y="28082"/>
                    <a:pt x="25400" y="94356"/>
                    <a:pt x="25400" y="17579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4444" y="3476413"/>
            <a:ext cx="1234440" cy="734930"/>
            <a:chOff x="0" y="0"/>
            <a:chExt cx="1645920" cy="9799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" cy="979906"/>
            </a:xfrm>
            <a:custGeom>
              <a:avLst/>
              <a:gdLst/>
              <a:ahLst/>
              <a:cxnLst/>
              <a:rect r="r" b="b" t="t" l="l"/>
              <a:pathLst>
                <a:path h="97990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979906"/>
                  </a:lnTo>
                  <a:lnTo>
                    <a:pt x="0" y="979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8" r="22222" b="6054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645920" cy="979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79"/>
                </a:lnSpc>
              </a:pPr>
              <a:r>
                <a:rPr lang="en-US" sz="3899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Aave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674444" y="4239917"/>
            <a:ext cx="1253490" cy="403098"/>
            <a:chOff x="0" y="0"/>
            <a:chExt cx="1671320" cy="5374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1645920" cy="512064"/>
            </a:xfrm>
            <a:custGeom>
              <a:avLst/>
              <a:gdLst/>
              <a:ahLst/>
              <a:cxnLst/>
              <a:rect r="r" b="b" t="t" l="l"/>
              <a:pathLst>
                <a:path h="512064" w="1645920">
                  <a:moveTo>
                    <a:pt x="0" y="256032"/>
                  </a:moveTo>
                  <a:cubicBezTo>
                    <a:pt x="0" y="114681"/>
                    <a:pt x="118491" y="0"/>
                    <a:pt x="264668" y="0"/>
                  </a:cubicBezTo>
                  <a:lnTo>
                    <a:pt x="1381252" y="0"/>
                  </a:lnTo>
                  <a:cubicBezTo>
                    <a:pt x="1527429" y="0"/>
                    <a:pt x="1645920" y="114681"/>
                    <a:pt x="1645920" y="256032"/>
                  </a:cubicBezTo>
                  <a:cubicBezTo>
                    <a:pt x="1645920" y="397383"/>
                    <a:pt x="1527429" y="512064"/>
                    <a:pt x="1381252" y="512064"/>
                  </a:cubicBezTo>
                  <a:lnTo>
                    <a:pt x="264668" y="512064"/>
                  </a:lnTo>
                  <a:cubicBezTo>
                    <a:pt x="11849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E8F1F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71320" cy="537464"/>
            </a:xfrm>
            <a:custGeom>
              <a:avLst/>
              <a:gdLst/>
              <a:ahLst/>
              <a:cxnLst/>
              <a:rect r="r" b="b" t="t" l="l"/>
              <a:pathLst>
                <a:path h="537464" w="1671320">
                  <a:moveTo>
                    <a:pt x="0" y="268732"/>
                  </a:moveTo>
                  <a:cubicBezTo>
                    <a:pt x="0" y="119888"/>
                    <a:pt x="124587" y="0"/>
                    <a:pt x="277368" y="0"/>
                  </a:cubicBezTo>
                  <a:lnTo>
                    <a:pt x="1393952" y="0"/>
                  </a:lnTo>
                  <a:lnTo>
                    <a:pt x="1393952" y="12700"/>
                  </a:lnTo>
                  <a:lnTo>
                    <a:pt x="1393952" y="0"/>
                  </a:lnTo>
                  <a:cubicBezTo>
                    <a:pt x="1546733" y="0"/>
                    <a:pt x="1671320" y="119888"/>
                    <a:pt x="1671320" y="268732"/>
                  </a:cubicBezTo>
                  <a:lnTo>
                    <a:pt x="1658620" y="268732"/>
                  </a:lnTo>
                  <a:lnTo>
                    <a:pt x="1671320" y="268732"/>
                  </a:lnTo>
                  <a:lnTo>
                    <a:pt x="1658620" y="268732"/>
                  </a:lnTo>
                  <a:lnTo>
                    <a:pt x="1671320" y="268732"/>
                  </a:lnTo>
                  <a:cubicBezTo>
                    <a:pt x="1671320" y="417576"/>
                    <a:pt x="1546733" y="537464"/>
                    <a:pt x="1393952" y="537464"/>
                  </a:cubicBezTo>
                  <a:lnTo>
                    <a:pt x="1393952" y="524764"/>
                  </a:lnTo>
                  <a:lnTo>
                    <a:pt x="1393952" y="537464"/>
                  </a:lnTo>
                  <a:lnTo>
                    <a:pt x="277368" y="537464"/>
                  </a:lnTo>
                  <a:lnTo>
                    <a:pt x="277368" y="524764"/>
                  </a:lnTo>
                  <a:lnTo>
                    <a:pt x="277368" y="537464"/>
                  </a:lnTo>
                  <a:cubicBezTo>
                    <a:pt x="124587" y="537464"/>
                    <a:pt x="0" y="417576"/>
                    <a:pt x="0" y="268732"/>
                  </a:cubicBezTo>
                  <a:lnTo>
                    <a:pt x="12700" y="268732"/>
                  </a:lnTo>
                  <a:lnTo>
                    <a:pt x="0" y="268732"/>
                  </a:lnTo>
                  <a:moveTo>
                    <a:pt x="25400" y="268732"/>
                  </a:moveTo>
                  <a:lnTo>
                    <a:pt x="12700" y="268732"/>
                  </a:lnTo>
                  <a:lnTo>
                    <a:pt x="25400" y="268732"/>
                  </a:lnTo>
                  <a:cubicBezTo>
                    <a:pt x="25400" y="402717"/>
                    <a:pt x="137795" y="512064"/>
                    <a:pt x="277368" y="512064"/>
                  </a:cubicBezTo>
                  <a:lnTo>
                    <a:pt x="1393952" y="512064"/>
                  </a:lnTo>
                  <a:cubicBezTo>
                    <a:pt x="1533525" y="512064"/>
                    <a:pt x="1645920" y="402717"/>
                    <a:pt x="1645920" y="268732"/>
                  </a:cubicBezTo>
                  <a:cubicBezTo>
                    <a:pt x="1645920" y="134747"/>
                    <a:pt x="1533525" y="25400"/>
                    <a:pt x="1393952" y="25400"/>
                  </a:cubicBezTo>
                  <a:lnTo>
                    <a:pt x="277368" y="25400"/>
                  </a:lnTo>
                  <a:lnTo>
                    <a:pt x="277368" y="12700"/>
                  </a:lnTo>
                  <a:lnTo>
                    <a:pt x="277368" y="25400"/>
                  </a:lnTo>
                  <a:cubicBezTo>
                    <a:pt x="137795" y="25400"/>
                    <a:pt x="25400" y="134747"/>
                    <a:pt x="25400" y="268732"/>
                  </a:cubicBezTo>
                  <a:close/>
                </a:path>
              </a:pathLst>
            </a:custGeom>
            <a:solidFill>
              <a:srgbClr val="E8F1F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674444" y="4239917"/>
            <a:ext cx="1234440" cy="342900"/>
            <a:chOff x="0" y="0"/>
            <a:chExt cx="1645920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5920" cy="457200"/>
            </a:xfrm>
            <a:custGeom>
              <a:avLst/>
              <a:gdLst/>
              <a:ahLst/>
              <a:cxnLst/>
              <a:rect r="r" b="b" t="t" l="l"/>
              <a:pathLst>
                <a:path h="45720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64592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D9BC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Lending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05432" y="4857750"/>
            <a:ext cx="337246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b="true" sz="1899">
                <a:solidFill>
                  <a:srgbClr val="545454"/>
                </a:solidFill>
                <a:latin typeface="Aptos Bold"/>
                <a:ea typeface="Aptos Bold"/>
                <a:cs typeface="Aptos Bold"/>
                <a:sym typeface="Aptos Bold"/>
              </a:rPr>
              <a:t>Borrower health, liquidation stress, utilization-style shocks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347746" y="3312708"/>
            <a:ext cx="3592509" cy="2495898"/>
            <a:chOff x="0" y="0"/>
            <a:chExt cx="2805176" cy="19488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4041"/>
              <a:ext cx="2779776" cy="1920816"/>
            </a:xfrm>
            <a:custGeom>
              <a:avLst/>
              <a:gdLst/>
              <a:ahLst/>
              <a:cxnLst/>
              <a:rect r="r" b="b" t="t" l="l"/>
              <a:pathLst>
                <a:path h="1920816" w="2779776">
                  <a:moveTo>
                    <a:pt x="0" y="161753"/>
                  </a:moveTo>
                  <a:cubicBezTo>
                    <a:pt x="0" y="72452"/>
                    <a:pt x="65913" y="0"/>
                    <a:pt x="147066" y="0"/>
                  </a:cubicBezTo>
                  <a:lnTo>
                    <a:pt x="2632710" y="0"/>
                  </a:lnTo>
                  <a:cubicBezTo>
                    <a:pt x="2713990" y="0"/>
                    <a:pt x="2779776" y="72452"/>
                    <a:pt x="2779776" y="161753"/>
                  </a:cubicBezTo>
                  <a:lnTo>
                    <a:pt x="2779776" y="1759063"/>
                  </a:lnTo>
                  <a:cubicBezTo>
                    <a:pt x="2779776" y="1848364"/>
                    <a:pt x="2713863" y="1920816"/>
                    <a:pt x="2632710" y="1920816"/>
                  </a:cubicBezTo>
                  <a:lnTo>
                    <a:pt x="147066" y="1920816"/>
                  </a:lnTo>
                  <a:cubicBezTo>
                    <a:pt x="65913" y="1920816"/>
                    <a:pt x="0" y="1848364"/>
                    <a:pt x="0" y="1759063"/>
                  </a:cubicBezTo>
                  <a:close/>
                </a:path>
              </a:pathLst>
            </a:custGeom>
            <a:solidFill>
              <a:srgbClr val="F7F5F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05176" cy="1948898"/>
            </a:xfrm>
            <a:custGeom>
              <a:avLst/>
              <a:gdLst/>
              <a:ahLst/>
              <a:cxnLst/>
              <a:rect r="r" b="b" t="t" l="l"/>
              <a:pathLst>
                <a:path h="1948898" w="2805176">
                  <a:moveTo>
                    <a:pt x="0" y="175794"/>
                  </a:moveTo>
                  <a:cubicBezTo>
                    <a:pt x="0" y="78630"/>
                    <a:pt x="71628" y="0"/>
                    <a:pt x="159766" y="0"/>
                  </a:cubicBezTo>
                  <a:lnTo>
                    <a:pt x="2645410" y="0"/>
                  </a:lnTo>
                  <a:lnTo>
                    <a:pt x="2645410" y="14041"/>
                  </a:lnTo>
                  <a:lnTo>
                    <a:pt x="2645410" y="0"/>
                  </a:lnTo>
                  <a:cubicBezTo>
                    <a:pt x="2733548" y="0"/>
                    <a:pt x="2805176" y="78630"/>
                    <a:pt x="2805176" y="175794"/>
                  </a:cubicBezTo>
                  <a:lnTo>
                    <a:pt x="2805176" y="1773104"/>
                  </a:lnTo>
                  <a:lnTo>
                    <a:pt x="2792476" y="1773104"/>
                  </a:lnTo>
                  <a:lnTo>
                    <a:pt x="2805176" y="1773104"/>
                  </a:lnTo>
                  <a:cubicBezTo>
                    <a:pt x="2805176" y="1870268"/>
                    <a:pt x="2733548" y="1948898"/>
                    <a:pt x="2645410" y="1948898"/>
                  </a:cubicBezTo>
                  <a:lnTo>
                    <a:pt x="2645410" y="1934857"/>
                  </a:lnTo>
                  <a:lnTo>
                    <a:pt x="2645410" y="1948898"/>
                  </a:lnTo>
                  <a:lnTo>
                    <a:pt x="159766" y="1948898"/>
                  </a:lnTo>
                  <a:lnTo>
                    <a:pt x="159766" y="1934857"/>
                  </a:lnTo>
                  <a:lnTo>
                    <a:pt x="159766" y="1948898"/>
                  </a:lnTo>
                  <a:cubicBezTo>
                    <a:pt x="71628" y="1948898"/>
                    <a:pt x="0" y="1870268"/>
                    <a:pt x="0" y="1773104"/>
                  </a:cubicBezTo>
                  <a:lnTo>
                    <a:pt x="0" y="175794"/>
                  </a:lnTo>
                  <a:lnTo>
                    <a:pt x="12700" y="175794"/>
                  </a:lnTo>
                  <a:lnTo>
                    <a:pt x="0" y="175794"/>
                  </a:lnTo>
                  <a:moveTo>
                    <a:pt x="25400" y="175794"/>
                  </a:moveTo>
                  <a:lnTo>
                    <a:pt x="25400" y="1773104"/>
                  </a:lnTo>
                  <a:lnTo>
                    <a:pt x="12700" y="1773104"/>
                  </a:lnTo>
                  <a:lnTo>
                    <a:pt x="25400" y="1773104"/>
                  </a:lnTo>
                  <a:cubicBezTo>
                    <a:pt x="25400" y="1854542"/>
                    <a:pt x="85471" y="1920816"/>
                    <a:pt x="159766" y="1920816"/>
                  </a:cubicBezTo>
                  <a:lnTo>
                    <a:pt x="2645410" y="1920816"/>
                  </a:lnTo>
                  <a:cubicBezTo>
                    <a:pt x="2719705" y="1920816"/>
                    <a:pt x="2779776" y="1854542"/>
                    <a:pt x="2779776" y="1773104"/>
                  </a:cubicBezTo>
                  <a:lnTo>
                    <a:pt x="2779776" y="175794"/>
                  </a:lnTo>
                  <a:lnTo>
                    <a:pt x="2792476" y="175794"/>
                  </a:lnTo>
                  <a:lnTo>
                    <a:pt x="2779776" y="175794"/>
                  </a:lnTo>
                  <a:cubicBezTo>
                    <a:pt x="2779776" y="94356"/>
                    <a:pt x="2719705" y="28082"/>
                    <a:pt x="2645410" y="28082"/>
                  </a:cubicBezTo>
                  <a:lnTo>
                    <a:pt x="159766" y="28082"/>
                  </a:lnTo>
                  <a:lnTo>
                    <a:pt x="159766" y="14041"/>
                  </a:lnTo>
                  <a:lnTo>
                    <a:pt x="159766" y="28082"/>
                  </a:lnTo>
                  <a:cubicBezTo>
                    <a:pt x="85471" y="28082"/>
                    <a:pt x="25400" y="94356"/>
                    <a:pt x="25400" y="17579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696171" y="4270016"/>
            <a:ext cx="979170" cy="403098"/>
            <a:chOff x="0" y="0"/>
            <a:chExt cx="1305560" cy="5374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1280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">
                  <a:moveTo>
                    <a:pt x="0" y="256032"/>
                  </a:moveTo>
                  <a:cubicBezTo>
                    <a:pt x="0" y="114681"/>
                    <a:pt x="117983" y="0"/>
                    <a:pt x="263525" y="0"/>
                  </a:cubicBezTo>
                  <a:lnTo>
                    <a:pt x="1016635" y="0"/>
                  </a:lnTo>
                  <a:cubicBezTo>
                    <a:pt x="1162177" y="0"/>
                    <a:pt x="1280160" y="114681"/>
                    <a:pt x="1280160" y="256032"/>
                  </a:cubicBezTo>
                  <a:cubicBezTo>
                    <a:pt x="1280160" y="397383"/>
                    <a:pt x="1162177" y="512064"/>
                    <a:pt x="1016635" y="512064"/>
                  </a:cubicBezTo>
                  <a:lnTo>
                    <a:pt x="263525" y="512064"/>
                  </a:lnTo>
                  <a:cubicBezTo>
                    <a:pt x="117983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3E3A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5560" cy="537464"/>
            </a:xfrm>
            <a:custGeom>
              <a:avLst/>
              <a:gdLst/>
              <a:ahLst/>
              <a:cxnLst/>
              <a:rect r="r" b="b" t="t" l="l"/>
              <a:pathLst>
                <a:path h="537464" w="1305560">
                  <a:moveTo>
                    <a:pt x="0" y="268732"/>
                  </a:moveTo>
                  <a:cubicBezTo>
                    <a:pt x="0" y="120015"/>
                    <a:pt x="123952" y="0"/>
                    <a:pt x="276225" y="0"/>
                  </a:cubicBezTo>
                  <a:lnTo>
                    <a:pt x="1029335" y="0"/>
                  </a:lnTo>
                  <a:lnTo>
                    <a:pt x="1029335" y="12700"/>
                  </a:lnTo>
                  <a:lnTo>
                    <a:pt x="1029335" y="0"/>
                  </a:lnTo>
                  <a:cubicBezTo>
                    <a:pt x="1181608" y="0"/>
                    <a:pt x="1305560" y="120015"/>
                    <a:pt x="1305560" y="268732"/>
                  </a:cubicBezTo>
                  <a:lnTo>
                    <a:pt x="1292860" y="268732"/>
                  </a:lnTo>
                  <a:lnTo>
                    <a:pt x="1305560" y="268732"/>
                  </a:lnTo>
                  <a:lnTo>
                    <a:pt x="1292860" y="268732"/>
                  </a:lnTo>
                  <a:lnTo>
                    <a:pt x="1305560" y="268732"/>
                  </a:lnTo>
                  <a:cubicBezTo>
                    <a:pt x="1305560" y="417449"/>
                    <a:pt x="1181608" y="537464"/>
                    <a:pt x="1029335" y="537464"/>
                  </a:cubicBezTo>
                  <a:lnTo>
                    <a:pt x="1029335" y="524764"/>
                  </a:lnTo>
                  <a:lnTo>
                    <a:pt x="1029335" y="537464"/>
                  </a:lnTo>
                  <a:lnTo>
                    <a:pt x="276225" y="537464"/>
                  </a:lnTo>
                  <a:lnTo>
                    <a:pt x="276225" y="524764"/>
                  </a:lnTo>
                  <a:lnTo>
                    <a:pt x="276225" y="537464"/>
                  </a:lnTo>
                  <a:cubicBezTo>
                    <a:pt x="123952" y="537464"/>
                    <a:pt x="0" y="417449"/>
                    <a:pt x="0" y="268732"/>
                  </a:cubicBezTo>
                  <a:lnTo>
                    <a:pt x="12700" y="268732"/>
                  </a:lnTo>
                  <a:lnTo>
                    <a:pt x="0" y="268732"/>
                  </a:lnTo>
                  <a:moveTo>
                    <a:pt x="25400" y="268732"/>
                  </a:moveTo>
                  <a:lnTo>
                    <a:pt x="12700" y="268732"/>
                  </a:lnTo>
                  <a:lnTo>
                    <a:pt x="25400" y="268732"/>
                  </a:lnTo>
                  <a:cubicBezTo>
                    <a:pt x="25400" y="402717"/>
                    <a:pt x="137287" y="512064"/>
                    <a:pt x="276225" y="512064"/>
                  </a:cubicBezTo>
                  <a:lnTo>
                    <a:pt x="1029335" y="512064"/>
                  </a:lnTo>
                  <a:cubicBezTo>
                    <a:pt x="1168146" y="512064"/>
                    <a:pt x="1280160" y="402717"/>
                    <a:pt x="1280160" y="268732"/>
                  </a:cubicBezTo>
                  <a:cubicBezTo>
                    <a:pt x="1280160" y="134747"/>
                    <a:pt x="1168273" y="25400"/>
                    <a:pt x="1029335" y="25400"/>
                  </a:cubicBezTo>
                  <a:lnTo>
                    <a:pt x="276225" y="25400"/>
                  </a:lnTo>
                  <a:lnTo>
                    <a:pt x="276225" y="12700"/>
                  </a:lnTo>
                  <a:lnTo>
                    <a:pt x="276225" y="25400"/>
                  </a:lnTo>
                  <a:cubicBezTo>
                    <a:pt x="137287" y="25400"/>
                    <a:pt x="25400" y="134747"/>
                    <a:pt x="25400" y="268732"/>
                  </a:cubicBezTo>
                  <a:close/>
                </a:path>
              </a:pathLst>
            </a:custGeom>
            <a:solidFill>
              <a:srgbClr val="F3E3A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197679" y="3282609"/>
            <a:ext cx="3592509" cy="2525997"/>
            <a:chOff x="0" y="0"/>
            <a:chExt cx="2805176" cy="19724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4210"/>
              <a:ext cx="2779776" cy="1943980"/>
            </a:xfrm>
            <a:custGeom>
              <a:avLst/>
              <a:gdLst/>
              <a:ahLst/>
              <a:cxnLst/>
              <a:rect r="r" b="b" t="t" l="l"/>
              <a:pathLst>
                <a:path h="1943980" w="2779776">
                  <a:moveTo>
                    <a:pt x="0" y="163704"/>
                  </a:moveTo>
                  <a:cubicBezTo>
                    <a:pt x="0" y="73326"/>
                    <a:pt x="65913" y="0"/>
                    <a:pt x="147066" y="0"/>
                  </a:cubicBezTo>
                  <a:lnTo>
                    <a:pt x="2632710" y="0"/>
                  </a:lnTo>
                  <a:cubicBezTo>
                    <a:pt x="2713990" y="0"/>
                    <a:pt x="2779776" y="73326"/>
                    <a:pt x="2779776" y="163704"/>
                  </a:cubicBezTo>
                  <a:lnTo>
                    <a:pt x="2779776" y="1780277"/>
                  </a:lnTo>
                  <a:cubicBezTo>
                    <a:pt x="2779776" y="1870655"/>
                    <a:pt x="2713863" y="1943980"/>
                    <a:pt x="2632710" y="1943980"/>
                  </a:cubicBezTo>
                  <a:lnTo>
                    <a:pt x="147066" y="1943980"/>
                  </a:lnTo>
                  <a:cubicBezTo>
                    <a:pt x="65913" y="1943980"/>
                    <a:pt x="0" y="1870655"/>
                    <a:pt x="0" y="1780277"/>
                  </a:cubicBezTo>
                  <a:close/>
                </a:path>
              </a:pathLst>
            </a:custGeom>
            <a:solidFill>
              <a:srgbClr val="F7F5F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805176" cy="1972401"/>
            </a:xfrm>
            <a:custGeom>
              <a:avLst/>
              <a:gdLst/>
              <a:ahLst/>
              <a:cxnLst/>
              <a:rect r="r" b="b" t="t" l="l"/>
              <a:pathLst>
                <a:path h="1972401" w="2805176">
                  <a:moveTo>
                    <a:pt x="0" y="177914"/>
                  </a:moveTo>
                  <a:cubicBezTo>
                    <a:pt x="0" y="79578"/>
                    <a:pt x="71628" y="0"/>
                    <a:pt x="159766" y="0"/>
                  </a:cubicBezTo>
                  <a:lnTo>
                    <a:pt x="2645410" y="0"/>
                  </a:lnTo>
                  <a:lnTo>
                    <a:pt x="2645410" y="14210"/>
                  </a:lnTo>
                  <a:lnTo>
                    <a:pt x="2645410" y="0"/>
                  </a:lnTo>
                  <a:cubicBezTo>
                    <a:pt x="2733548" y="0"/>
                    <a:pt x="2805176" y="79578"/>
                    <a:pt x="2805176" y="177914"/>
                  </a:cubicBezTo>
                  <a:lnTo>
                    <a:pt x="2805176" y="1794487"/>
                  </a:lnTo>
                  <a:lnTo>
                    <a:pt x="2792476" y="1794487"/>
                  </a:lnTo>
                  <a:lnTo>
                    <a:pt x="2805176" y="1794487"/>
                  </a:lnTo>
                  <a:cubicBezTo>
                    <a:pt x="2805176" y="1892822"/>
                    <a:pt x="2733548" y="1972401"/>
                    <a:pt x="2645410" y="1972401"/>
                  </a:cubicBezTo>
                  <a:lnTo>
                    <a:pt x="2645410" y="1958190"/>
                  </a:lnTo>
                  <a:lnTo>
                    <a:pt x="2645410" y="1972401"/>
                  </a:lnTo>
                  <a:lnTo>
                    <a:pt x="159766" y="1972401"/>
                  </a:lnTo>
                  <a:lnTo>
                    <a:pt x="159766" y="1958190"/>
                  </a:lnTo>
                  <a:lnTo>
                    <a:pt x="159766" y="1972401"/>
                  </a:lnTo>
                  <a:cubicBezTo>
                    <a:pt x="71628" y="1972401"/>
                    <a:pt x="0" y="1892822"/>
                    <a:pt x="0" y="1794487"/>
                  </a:cubicBezTo>
                  <a:lnTo>
                    <a:pt x="0" y="177914"/>
                  </a:lnTo>
                  <a:lnTo>
                    <a:pt x="12700" y="177914"/>
                  </a:lnTo>
                  <a:lnTo>
                    <a:pt x="0" y="177914"/>
                  </a:lnTo>
                  <a:moveTo>
                    <a:pt x="25400" y="177914"/>
                  </a:moveTo>
                  <a:lnTo>
                    <a:pt x="25400" y="1794487"/>
                  </a:lnTo>
                  <a:lnTo>
                    <a:pt x="12700" y="1794487"/>
                  </a:lnTo>
                  <a:lnTo>
                    <a:pt x="25400" y="1794487"/>
                  </a:lnTo>
                  <a:cubicBezTo>
                    <a:pt x="25400" y="1876907"/>
                    <a:pt x="85471" y="1943980"/>
                    <a:pt x="159766" y="1943980"/>
                  </a:cubicBezTo>
                  <a:lnTo>
                    <a:pt x="2645410" y="1943980"/>
                  </a:lnTo>
                  <a:cubicBezTo>
                    <a:pt x="2719705" y="1943980"/>
                    <a:pt x="2779776" y="1876907"/>
                    <a:pt x="2779776" y="1794487"/>
                  </a:cubicBezTo>
                  <a:lnTo>
                    <a:pt x="2779776" y="177914"/>
                  </a:lnTo>
                  <a:lnTo>
                    <a:pt x="2792476" y="177914"/>
                  </a:lnTo>
                  <a:lnTo>
                    <a:pt x="2779776" y="177914"/>
                  </a:lnTo>
                  <a:cubicBezTo>
                    <a:pt x="2779776" y="95494"/>
                    <a:pt x="2719705" y="28421"/>
                    <a:pt x="2645410" y="28421"/>
                  </a:cubicBezTo>
                  <a:lnTo>
                    <a:pt x="159766" y="28421"/>
                  </a:lnTo>
                  <a:lnTo>
                    <a:pt x="159766" y="14210"/>
                  </a:lnTo>
                  <a:lnTo>
                    <a:pt x="159766" y="28421"/>
                  </a:lnTo>
                  <a:cubicBezTo>
                    <a:pt x="85471" y="28421"/>
                    <a:pt x="25400" y="95494"/>
                    <a:pt x="25400" y="17791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01795" y="3504988"/>
            <a:ext cx="1967922" cy="734930"/>
            <a:chOff x="0" y="0"/>
            <a:chExt cx="2623896" cy="9799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23896" cy="979906"/>
            </a:xfrm>
            <a:custGeom>
              <a:avLst/>
              <a:gdLst/>
              <a:ahLst/>
              <a:cxnLst/>
              <a:rect r="r" b="b" t="t" l="l"/>
              <a:pathLst>
                <a:path h="979906" w="2623896">
                  <a:moveTo>
                    <a:pt x="0" y="0"/>
                  </a:moveTo>
                  <a:lnTo>
                    <a:pt x="2623896" y="0"/>
                  </a:lnTo>
                  <a:lnTo>
                    <a:pt x="2623896" y="979906"/>
                  </a:lnTo>
                  <a:lnTo>
                    <a:pt x="0" y="979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8" r="51211" b="605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623896" cy="979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79"/>
                </a:lnSpc>
              </a:pPr>
              <a:r>
                <a:rPr lang="en-US" sz="3899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Uniswap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705696" y="4270016"/>
            <a:ext cx="960120" cy="342900"/>
            <a:chOff x="0" y="0"/>
            <a:chExt cx="1280160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0160" cy="457200"/>
            </a:xfrm>
            <a:custGeom>
              <a:avLst/>
              <a:gdLst/>
              <a:ahLst/>
              <a:cxnLst/>
              <a:rect r="r" b="b" t="t" l="l"/>
              <a:pathLst>
                <a:path h="4572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2801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D4A01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AMM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347746" y="4857750"/>
            <a:ext cx="354145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79"/>
              </a:lnSpc>
              <a:spcBef>
                <a:spcPct val="0"/>
              </a:spcBef>
            </a:pPr>
            <a:r>
              <a:rPr lang="en-US" b="true" sz="1899" strike="noStrike" u="none">
                <a:solidFill>
                  <a:srgbClr val="545454"/>
                </a:solidFill>
                <a:latin typeface="Aptos Bold"/>
                <a:ea typeface="Aptos Bold"/>
                <a:cs typeface="Aptos Bold"/>
                <a:sym typeface="Aptos Bold"/>
              </a:rPr>
              <a:t>Liquidity depth, concentrated LP risk, exit quality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009973" y="3476413"/>
            <a:ext cx="1967922" cy="734930"/>
            <a:chOff x="0" y="0"/>
            <a:chExt cx="2623896" cy="97990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23896" cy="979906"/>
            </a:xfrm>
            <a:custGeom>
              <a:avLst/>
              <a:gdLst/>
              <a:ahLst/>
              <a:cxnLst/>
              <a:rect r="r" b="b" t="t" l="l"/>
              <a:pathLst>
                <a:path h="979906" w="2623896">
                  <a:moveTo>
                    <a:pt x="0" y="0"/>
                  </a:moveTo>
                  <a:lnTo>
                    <a:pt x="2623896" y="0"/>
                  </a:lnTo>
                  <a:lnTo>
                    <a:pt x="2623896" y="979906"/>
                  </a:lnTo>
                  <a:lnTo>
                    <a:pt x="0" y="979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8" r="51211" b="6054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623896" cy="979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79"/>
                </a:lnSpc>
              </a:pPr>
              <a:r>
                <a:rPr lang="en-US" sz="3899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Stargate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378779" y="4239917"/>
            <a:ext cx="1116330" cy="403098"/>
            <a:chOff x="0" y="0"/>
            <a:chExt cx="1488440" cy="5374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2700" y="12700"/>
              <a:ext cx="1463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">
                  <a:moveTo>
                    <a:pt x="0" y="256032"/>
                  </a:moveTo>
                  <a:cubicBezTo>
                    <a:pt x="0" y="114681"/>
                    <a:pt x="118237" y="0"/>
                    <a:pt x="264160" y="0"/>
                  </a:cubicBezTo>
                  <a:lnTo>
                    <a:pt x="1198880" y="0"/>
                  </a:lnTo>
                  <a:cubicBezTo>
                    <a:pt x="1344803" y="0"/>
                    <a:pt x="1463040" y="114681"/>
                    <a:pt x="1463040" y="256032"/>
                  </a:cubicBezTo>
                  <a:cubicBezTo>
                    <a:pt x="1463040" y="397383"/>
                    <a:pt x="1344803" y="512064"/>
                    <a:pt x="1198880" y="512064"/>
                  </a:cubicBezTo>
                  <a:lnTo>
                    <a:pt x="264160" y="512064"/>
                  </a:lnTo>
                  <a:cubicBezTo>
                    <a:pt x="118237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BE1E1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88440" cy="537464"/>
            </a:xfrm>
            <a:custGeom>
              <a:avLst/>
              <a:gdLst/>
              <a:ahLst/>
              <a:cxnLst/>
              <a:rect r="r" b="b" t="t" l="l"/>
              <a:pathLst>
                <a:path h="537464" w="1488440">
                  <a:moveTo>
                    <a:pt x="0" y="268732"/>
                  </a:moveTo>
                  <a:cubicBezTo>
                    <a:pt x="0" y="119888"/>
                    <a:pt x="124333" y="0"/>
                    <a:pt x="276860" y="0"/>
                  </a:cubicBezTo>
                  <a:lnTo>
                    <a:pt x="1211580" y="0"/>
                  </a:lnTo>
                  <a:lnTo>
                    <a:pt x="1211580" y="12700"/>
                  </a:lnTo>
                  <a:lnTo>
                    <a:pt x="1211580" y="0"/>
                  </a:lnTo>
                  <a:cubicBezTo>
                    <a:pt x="1364107" y="0"/>
                    <a:pt x="1488440" y="119888"/>
                    <a:pt x="1488440" y="268732"/>
                  </a:cubicBezTo>
                  <a:lnTo>
                    <a:pt x="1475740" y="268732"/>
                  </a:lnTo>
                  <a:lnTo>
                    <a:pt x="1488440" y="268732"/>
                  </a:lnTo>
                  <a:lnTo>
                    <a:pt x="1475740" y="268732"/>
                  </a:lnTo>
                  <a:lnTo>
                    <a:pt x="1488440" y="268732"/>
                  </a:lnTo>
                  <a:cubicBezTo>
                    <a:pt x="1488440" y="417576"/>
                    <a:pt x="1364107" y="537464"/>
                    <a:pt x="1211580" y="537464"/>
                  </a:cubicBezTo>
                  <a:lnTo>
                    <a:pt x="1211580" y="524764"/>
                  </a:lnTo>
                  <a:lnTo>
                    <a:pt x="1211580" y="537464"/>
                  </a:lnTo>
                  <a:lnTo>
                    <a:pt x="276860" y="537464"/>
                  </a:lnTo>
                  <a:lnTo>
                    <a:pt x="276860" y="524764"/>
                  </a:lnTo>
                  <a:lnTo>
                    <a:pt x="276860" y="537464"/>
                  </a:lnTo>
                  <a:cubicBezTo>
                    <a:pt x="124333" y="537464"/>
                    <a:pt x="0" y="417576"/>
                    <a:pt x="0" y="268732"/>
                  </a:cubicBezTo>
                  <a:lnTo>
                    <a:pt x="12700" y="268732"/>
                  </a:lnTo>
                  <a:lnTo>
                    <a:pt x="0" y="268732"/>
                  </a:lnTo>
                  <a:moveTo>
                    <a:pt x="25400" y="268732"/>
                  </a:moveTo>
                  <a:lnTo>
                    <a:pt x="12700" y="268732"/>
                  </a:lnTo>
                  <a:lnTo>
                    <a:pt x="25400" y="268732"/>
                  </a:lnTo>
                  <a:cubicBezTo>
                    <a:pt x="25400" y="402717"/>
                    <a:pt x="137541" y="512064"/>
                    <a:pt x="276860" y="512064"/>
                  </a:cubicBezTo>
                  <a:lnTo>
                    <a:pt x="1211580" y="512064"/>
                  </a:lnTo>
                  <a:cubicBezTo>
                    <a:pt x="1350772" y="512064"/>
                    <a:pt x="1463040" y="402717"/>
                    <a:pt x="1463040" y="268732"/>
                  </a:cubicBezTo>
                  <a:cubicBezTo>
                    <a:pt x="1463040" y="134747"/>
                    <a:pt x="1350899" y="25400"/>
                    <a:pt x="1211580" y="25400"/>
                  </a:cubicBezTo>
                  <a:lnTo>
                    <a:pt x="276860" y="25400"/>
                  </a:lnTo>
                  <a:lnTo>
                    <a:pt x="276860" y="12700"/>
                  </a:lnTo>
                  <a:lnTo>
                    <a:pt x="276860" y="25400"/>
                  </a:lnTo>
                  <a:cubicBezTo>
                    <a:pt x="137541" y="25400"/>
                    <a:pt x="25400" y="134747"/>
                    <a:pt x="25400" y="268732"/>
                  </a:cubicBezTo>
                  <a:close/>
                </a:path>
              </a:pathLst>
            </a:custGeom>
            <a:solidFill>
              <a:srgbClr val="FBE1E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445294" y="4270016"/>
            <a:ext cx="1097280" cy="342900"/>
            <a:chOff x="0" y="0"/>
            <a:chExt cx="1463040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" cy="457200"/>
            </a:xfrm>
            <a:custGeom>
              <a:avLst/>
              <a:gdLst/>
              <a:ahLst/>
              <a:cxnLst/>
              <a:rect r="r" b="b" t="t" l="l"/>
              <a:pathLst>
                <a:path h="4572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4630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573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Bridge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197679" y="4895850"/>
            <a:ext cx="359250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79"/>
              </a:lnSpc>
              <a:spcBef>
                <a:spcPct val="0"/>
              </a:spcBef>
            </a:pPr>
            <a:r>
              <a:rPr lang="en-US" b="true" sz="1899" strike="noStrike" u="none">
                <a:solidFill>
                  <a:srgbClr val="545454"/>
                </a:solidFill>
                <a:latin typeface="Aptos Bold"/>
                <a:ea typeface="Aptos Bold"/>
                <a:cs typeface="Aptos Bold"/>
                <a:sym typeface="Aptos Bold"/>
              </a:rPr>
              <a:t>Cross-chain flows, connectivity and concentration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3351" y="7220572"/>
            <a:ext cx="1686481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4199">
                <a:solidFill>
                  <a:srgbClr val="545454"/>
                </a:solidFill>
                <a:latin typeface="Aptos Bold"/>
                <a:ea typeface="Aptos Bold"/>
                <a:cs typeface="Aptos Bold"/>
                <a:sym typeface="Aptos Bold"/>
              </a:rPr>
              <a:t>Together they power radar, decomposition, stress lab, narrative, and portfolio views as a coherent three-name book.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666858" y="38644"/>
            <a:ext cx="903779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20212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Three Protocols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509248" y="1803247"/>
            <a:ext cx="697611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2899">
                <a:solidFill>
                  <a:srgbClr val="545454"/>
                </a:solidFill>
                <a:latin typeface="Aptos Bold"/>
                <a:ea typeface="Aptos Bold"/>
                <a:cs typeface="Aptos Bold"/>
                <a:sym typeface="Aptos Bold"/>
              </a:rPr>
              <a:t>E</a:t>
            </a:r>
            <a:r>
              <a:rPr lang="en-US" b="true" sz="2899">
                <a:solidFill>
                  <a:srgbClr val="545454"/>
                </a:solidFill>
                <a:latin typeface="Aptos Bold"/>
                <a:ea typeface="Aptos Bold"/>
                <a:cs typeface="Aptos Bold"/>
                <a:sym typeface="Aptos Bold"/>
              </a:rPr>
              <a:t>ach represents a different risk archetype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49675" y="100203"/>
            <a:ext cx="1253490" cy="1253490"/>
            <a:chOff x="0" y="0"/>
            <a:chExt cx="1671320" cy="1671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A7C7E7">
                <a:alpha val="745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16019" y="566547"/>
            <a:ext cx="348234" cy="348234"/>
            <a:chOff x="0" y="0"/>
            <a:chExt cx="464312" cy="4643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939260" y="9601200"/>
            <a:ext cx="617220" cy="274320"/>
            <a:chOff x="0" y="0"/>
            <a:chExt cx="822960" cy="365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960" cy="365760"/>
            </a:xfrm>
            <a:custGeom>
              <a:avLst/>
              <a:gdLst/>
              <a:ahLst/>
              <a:cxnLst/>
              <a:rect r="r" b="b" t="t" l="l"/>
              <a:pathLst>
                <a:path h="3657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822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03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4712" y="928673"/>
            <a:ext cx="10698480" cy="829642"/>
            <a:chOff x="0" y="0"/>
            <a:chExt cx="14264640" cy="11061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64639" cy="1106189"/>
            </a:xfrm>
            <a:custGeom>
              <a:avLst/>
              <a:gdLst/>
              <a:ahLst/>
              <a:cxnLst/>
              <a:rect r="r" b="b" t="t" l="l"/>
              <a:pathLst>
                <a:path h="1106189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1106189"/>
                  </a:lnTo>
                  <a:lnTo>
                    <a:pt x="0" y="11061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506" r="0" b="-18102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4264640" cy="10966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79"/>
                </a:lnSpc>
              </a:pPr>
              <a:r>
                <a:rPr lang="en-US" sz="4399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TVL quality matters more than TVL level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0323" y="2596515"/>
            <a:ext cx="7974330" cy="6328410"/>
            <a:chOff x="0" y="0"/>
            <a:chExt cx="10632440" cy="8437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10607040" cy="8412480"/>
            </a:xfrm>
            <a:custGeom>
              <a:avLst/>
              <a:gdLst/>
              <a:ahLst/>
              <a:cxnLst/>
              <a:rect r="r" b="b" t="t" l="l"/>
              <a:pathLst>
                <a:path h="8412480" w="10607040">
                  <a:moveTo>
                    <a:pt x="0" y="146304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0460609" y="0"/>
                  </a:lnTo>
                  <a:cubicBezTo>
                    <a:pt x="10541508" y="0"/>
                    <a:pt x="10607040" y="65532"/>
                    <a:pt x="10607040" y="146304"/>
                  </a:cubicBezTo>
                  <a:lnTo>
                    <a:pt x="10607040" y="8266176"/>
                  </a:lnTo>
                  <a:cubicBezTo>
                    <a:pt x="10607040" y="8346948"/>
                    <a:pt x="10541508" y="8412480"/>
                    <a:pt x="10460609" y="8412480"/>
                  </a:cubicBezTo>
                  <a:lnTo>
                    <a:pt x="146431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32440" cy="8437880"/>
            </a:xfrm>
            <a:custGeom>
              <a:avLst/>
              <a:gdLst/>
              <a:ahLst/>
              <a:cxnLst/>
              <a:rect r="r" b="b" t="t" l="l"/>
              <a:pathLst>
                <a:path h="8437880" w="10632440">
                  <a:moveTo>
                    <a:pt x="0" y="159004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473309" y="0"/>
                  </a:lnTo>
                  <a:lnTo>
                    <a:pt x="10473309" y="12700"/>
                  </a:lnTo>
                  <a:lnTo>
                    <a:pt x="10473309" y="0"/>
                  </a:lnTo>
                  <a:cubicBezTo>
                    <a:pt x="10561193" y="0"/>
                    <a:pt x="10632440" y="71120"/>
                    <a:pt x="10632440" y="159004"/>
                  </a:cubicBezTo>
                  <a:lnTo>
                    <a:pt x="10619740" y="159004"/>
                  </a:lnTo>
                  <a:lnTo>
                    <a:pt x="10632440" y="159004"/>
                  </a:lnTo>
                  <a:lnTo>
                    <a:pt x="10632440" y="8278876"/>
                  </a:lnTo>
                  <a:lnTo>
                    <a:pt x="10619740" y="8278876"/>
                  </a:lnTo>
                  <a:lnTo>
                    <a:pt x="10632440" y="8278876"/>
                  </a:lnTo>
                  <a:cubicBezTo>
                    <a:pt x="10632440" y="8366633"/>
                    <a:pt x="10561193" y="8437880"/>
                    <a:pt x="10473309" y="8437880"/>
                  </a:cubicBezTo>
                  <a:lnTo>
                    <a:pt x="10473309" y="8425180"/>
                  </a:lnTo>
                  <a:lnTo>
                    <a:pt x="10473309" y="8437880"/>
                  </a:lnTo>
                  <a:lnTo>
                    <a:pt x="159131" y="8437880"/>
                  </a:lnTo>
                  <a:lnTo>
                    <a:pt x="159131" y="8425180"/>
                  </a:lnTo>
                  <a:lnTo>
                    <a:pt x="159131" y="8437880"/>
                  </a:lnTo>
                  <a:cubicBezTo>
                    <a:pt x="71247" y="8437880"/>
                    <a:pt x="0" y="8366760"/>
                    <a:pt x="0" y="827887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8278876"/>
                  </a:lnTo>
                  <a:lnTo>
                    <a:pt x="12700" y="8278876"/>
                  </a:lnTo>
                  <a:lnTo>
                    <a:pt x="25400" y="8278876"/>
                  </a:lnTo>
                  <a:cubicBezTo>
                    <a:pt x="25400" y="8352663"/>
                    <a:pt x="85217" y="8412480"/>
                    <a:pt x="159131" y="8412480"/>
                  </a:cubicBezTo>
                  <a:lnTo>
                    <a:pt x="10473309" y="8412480"/>
                  </a:lnTo>
                  <a:cubicBezTo>
                    <a:pt x="10547096" y="8412480"/>
                    <a:pt x="10607040" y="8352663"/>
                    <a:pt x="10607040" y="8278876"/>
                  </a:cubicBezTo>
                  <a:lnTo>
                    <a:pt x="10607040" y="159004"/>
                  </a:lnTo>
                  <a:cubicBezTo>
                    <a:pt x="10607040" y="85217"/>
                    <a:pt x="10547223" y="25400"/>
                    <a:pt x="10473309" y="25400"/>
                  </a:cubicBezTo>
                  <a:lnTo>
                    <a:pt x="159131" y="25400"/>
                  </a:lnTo>
                  <a:lnTo>
                    <a:pt x="159131" y="12700"/>
                  </a:lnTo>
                  <a:lnTo>
                    <a:pt x="159131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E5737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35059" y="2596515"/>
            <a:ext cx="7974330" cy="6328410"/>
            <a:chOff x="0" y="0"/>
            <a:chExt cx="10632440" cy="8437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10607040" cy="8412480"/>
            </a:xfrm>
            <a:custGeom>
              <a:avLst/>
              <a:gdLst/>
              <a:ahLst/>
              <a:cxnLst/>
              <a:rect r="r" b="b" t="t" l="l"/>
              <a:pathLst>
                <a:path h="8412480" w="10607040">
                  <a:moveTo>
                    <a:pt x="0" y="146304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0460609" y="0"/>
                  </a:lnTo>
                  <a:cubicBezTo>
                    <a:pt x="10541508" y="0"/>
                    <a:pt x="10607040" y="65532"/>
                    <a:pt x="10607040" y="146304"/>
                  </a:cubicBezTo>
                  <a:lnTo>
                    <a:pt x="10607040" y="8266176"/>
                  </a:lnTo>
                  <a:cubicBezTo>
                    <a:pt x="10607040" y="8346948"/>
                    <a:pt x="10541508" y="8412480"/>
                    <a:pt x="10460609" y="8412480"/>
                  </a:cubicBezTo>
                  <a:lnTo>
                    <a:pt x="146431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32440" cy="8437880"/>
            </a:xfrm>
            <a:custGeom>
              <a:avLst/>
              <a:gdLst/>
              <a:ahLst/>
              <a:cxnLst/>
              <a:rect r="r" b="b" t="t" l="l"/>
              <a:pathLst>
                <a:path h="8437880" w="10632440">
                  <a:moveTo>
                    <a:pt x="0" y="159004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473309" y="0"/>
                  </a:lnTo>
                  <a:lnTo>
                    <a:pt x="10473309" y="12700"/>
                  </a:lnTo>
                  <a:lnTo>
                    <a:pt x="10473309" y="0"/>
                  </a:lnTo>
                  <a:cubicBezTo>
                    <a:pt x="10561193" y="0"/>
                    <a:pt x="10632440" y="71120"/>
                    <a:pt x="10632440" y="159004"/>
                  </a:cubicBezTo>
                  <a:lnTo>
                    <a:pt x="10619740" y="159004"/>
                  </a:lnTo>
                  <a:lnTo>
                    <a:pt x="10632440" y="159004"/>
                  </a:lnTo>
                  <a:lnTo>
                    <a:pt x="10632440" y="8278876"/>
                  </a:lnTo>
                  <a:lnTo>
                    <a:pt x="10619740" y="8278876"/>
                  </a:lnTo>
                  <a:lnTo>
                    <a:pt x="10632440" y="8278876"/>
                  </a:lnTo>
                  <a:cubicBezTo>
                    <a:pt x="10632440" y="8366633"/>
                    <a:pt x="10561193" y="8437880"/>
                    <a:pt x="10473309" y="8437880"/>
                  </a:cubicBezTo>
                  <a:lnTo>
                    <a:pt x="10473309" y="8425180"/>
                  </a:lnTo>
                  <a:lnTo>
                    <a:pt x="10473309" y="8437880"/>
                  </a:lnTo>
                  <a:lnTo>
                    <a:pt x="159131" y="8437880"/>
                  </a:lnTo>
                  <a:lnTo>
                    <a:pt x="159131" y="8425180"/>
                  </a:lnTo>
                  <a:lnTo>
                    <a:pt x="159131" y="8437880"/>
                  </a:lnTo>
                  <a:cubicBezTo>
                    <a:pt x="71247" y="8437880"/>
                    <a:pt x="0" y="8366760"/>
                    <a:pt x="0" y="827887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8278876"/>
                  </a:lnTo>
                  <a:lnTo>
                    <a:pt x="12700" y="8278876"/>
                  </a:lnTo>
                  <a:lnTo>
                    <a:pt x="25400" y="8278876"/>
                  </a:lnTo>
                  <a:cubicBezTo>
                    <a:pt x="25400" y="8352663"/>
                    <a:pt x="85217" y="8412480"/>
                    <a:pt x="159131" y="8412480"/>
                  </a:cubicBezTo>
                  <a:lnTo>
                    <a:pt x="10473309" y="8412480"/>
                  </a:lnTo>
                  <a:cubicBezTo>
                    <a:pt x="10547096" y="8412480"/>
                    <a:pt x="10607040" y="8352663"/>
                    <a:pt x="10607040" y="8278876"/>
                  </a:cubicBezTo>
                  <a:lnTo>
                    <a:pt x="10607040" y="159004"/>
                  </a:lnTo>
                  <a:cubicBezTo>
                    <a:pt x="10607040" y="85217"/>
                    <a:pt x="10547223" y="25400"/>
                    <a:pt x="10473309" y="25400"/>
                  </a:cubicBezTo>
                  <a:lnTo>
                    <a:pt x="159131" y="25400"/>
                  </a:lnTo>
                  <a:lnTo>
                    <a:pt x="159131" y="12700"/>
                  </a:lnTo>
                  <a:lnTo>
                    <a:pt x="159131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81C78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81328" y="2948940"/>
            <a:ext cx="1371600" cy="274320"/>
            <a:chOff x="0" y="0"/>
            <a:chExt cx="1828800" cy="365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" cy="365760"/>
            </a:xfrm>
            <a:custGeom>
              <a:avLst/>
              <a:gdLst/>
              <a:ahLst/>
              <a:cxnLst/>
              <a:rect r="r" b="b" t="t" l="l"/>
              <a:pathLst>
                <a:path h="3657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8288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Protocol 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81328" y="3319272"/>
            <a:ext cx="1920240" cy="438912"/>
            <a:chOff x="0" y="0"/>
            <a:chExt cx="2560320" cy="5852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0" cy="585216"/>
            </a:xfrm>
            <a:custGeom>
              <a:avLst/>
              <a:gdLst/>
              <a:ahLst/>
              <a:cxnLst/>
              <a:rect r="r" b="b" t="t" l="l"/>
              <a:pathLst>
                <a:path h="58521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56032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$10B TVL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446907" y="3350895"/>
            <a:ext cx="1226058" cy="375666"/>
            <a:chOff x="0" y="0"/>
            <a:chExt cx="1634744" cy="5008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1609217" cy="475488"/>
            </a:xfrm>
            <a:custGeom>
              <a:avLst/>
              <a:gdLst/>
              <a:ahLst/>
              <a:cxnLst/>
              <a:rect r="r" b="b" t="t" l="l"/>
              <a:pathLst>
                <a:path h="475488" w="1609217">
                  <a:moveTo>
                    <a:pt x="0" y="237744"/>
                  </a:moveTo>
                  <a:cubicBezTo>
                    <a:pt x="0" y="106426"/>
                    <a:pt x="110363" y="0"/>
                    <a:pt x="246507" y="0"/>
                  </a:cubicBezTo>
                  <a:lnTo>
                    <a:pt x="1362710" y="0"/>
                  </a:lnTo>
                  <a:cubicBezTo>
                    <a:pt x="1498854" y="0"/>
                    <a:pt x="1609217" y="106426"/>
                    <a:pt x="1609217" y="237744"/>
                  </a:cubicBezTo>
                  <a:cubicBezTo>
                    <a:pt x="1609217" y="369062"/>
                    <a:pt x="1498854" y="475488"/>
                    <a:pt x="1362710" y="475488"/>
                  </a:cubicBezTo>
                  <a:lnTo>
                    <a:pt x="246507" y="475488"/>
                  </a:lnTo>
                  <a:cubicBezTo>
                    <a:pt x="110363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34617" cy="500888"/>
            </a:xfrm>
            <a:custGeom>
              <a:avLst/>
              <a:gdLst/>
              <a:ahLst/>
              <a:cxnLst/>
              <a:rect r="r" b="b" t="t" l="l"/>
              <a:pathLst>
                <a:path h="500888" w="1634617">
                  <a:moveTo>
                    <a:pt x="0" y="250444"/>
                  </a:moveTo>
                  <a:cubicBezTo>
                    <a:pt x="0" y="111633"/>
                    <a:pt x="116459" y="0"/>
                    <a:pt x="259207" y="0"/>
                  </a:cubicBezTo>
                  <a:lnTo>
                    <a:pt x="1375410" y="0"/>
                  </a:lnTo>
                  <a:lnTo>
                    <a:pt x="1375410" y="12700"/>
                  </a:lnTo>
                  <a:lnTo>
                    <a:pt x="1375410" y="0"/>
                  </a:lnTo>
                  <a:cubicBezTo>
                    <a:pt x="1518158" y="0"/>
                    <a:pt x="1634617" y="111633"/>
                    <a:pt x="1634617" y="250444"/>
                  </a:cubicBezTo>
                  <a:lnTo>
                    <a:pt x="1621917" y="250444"/>
                  </a:lnTo>
                  <a:lnTo>
                    <a:pt x="1634617" y="250444"/>
                  </a:lnTo>
                  <a:lnTo>
                    <a:pt x="1621917" y="250444"/>
                  </a:lnTo>
                  <a:lnTo>
                    <a:pt x="1634617" y="250444"/>
                  </a:lnTo>
                  <a:cubicBezTo>
                    <a:pt x="1634617" y="389255"/>
                    <a:pt x="1518158" y="500888"/>
                    <a:pt x="1375410" y="500888"/>
                  </a:cubicBezTo>
                  <a:lnTo>
                    <a:pt x="1375410" y="488188"/>
                  </a:lnTo>
                  <a:lnTo>
                    <a:pt x="1375410" y="500888"/>
                  </a:lnTo>
                  <a:lnTo>
                    <a:pt x="259207" y="500888"/>
                  </a:lnTo>
                  <a:lnTo>
                    <a:pt x="259207" y="488188"/>
                  </a:lnTo>
                  <a:lnTo>
                    <a:pt x="259207" y="500888"/>
                  </a:lnTo>
                  <a:cubicBezTo>
                    <a:pt x="116459" y="500888"/>
                    <a:pt x="0" y="389255"/>
                    <a:pt x="0" y="250444"/>
                  </a:cubicBezTo>
                  <a:cubicBezTo>
                    <a:pt x="0" y="248031"/>
                    <a:pt x="635" y="245745"/>
                    <a:pt x="1905" y="243713"/>
                  </a:cubicBezTo>
                  <a:lnTo>
                    <a:pt x="12700" y="250444"/>
                  </a:lnTo>
                  <a:lnTo>
                    <a:pt x="0" y="250444"/>
                  </a:lnTo>
                  <a:moveTo>
                    <a:pt x="25400" y="250444"/>
                  </a:moveTo>
                  <a:cubicBezTo>
                    <a:pt x="25400" y="252857"/>
                    <a:pt x="24765" y="255143"/>
                    <a:pt x="23495" y="257175"/>
                  </a:cubicBezTo>
                  <a:lnTo>
                    <a:pt x="12700" y="250444"/>
                  </a:lnTo>
                  <a:lnTo>
                    <a:pt x="25400" y="250444"/>
                  </a:lnTo>
                  <a:cubicBezTo>
                    <a:pt x="25400" y="374269"/>
                    <a:pt x="129667" y="475488"/>
                    <a:pt x="259207" y="475488"/>
                  </a:cubicBezTo>
                  <a:lnTo>
                    <a:pt x="1375410" y="475488"/>
                  </a:lnTo>
                  <a:cubicBezTo>
                    <a:pt x="1504950" y="475488"/>
                    <a:pt x="1609217" y="374269"/>
                    <a:pt x="1609217" y="250444"/>
                  </a:cubicBezTo>
                  <a:cubicBezTo>
                    <a:pt x="1609344" y="126619"/>
                    <a:pt x="1505077" y="25400"/>
                    <a:pt x="1375537" y="25400"/>
                  </a:cubicBezTo>
                  <a:lnTo>
                    <a:pt x="259207" y="25400"/>
                  </a:lnTo>
                  <a:lnTo>
                    <a:pt x="259207" y="12700"/>
                  </a:lnTo>
                  <a:lnTo>
                    <a:pt x="259207" y="25400"/>
                  </a:lnTo>
                  <a:cubicBezTo>
                    <a:pt x="129667" y="25400"/>
                    <a:pt x="25400" y="126619"/>
                    <a:pt x="25400" y="250444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456432" y="3401568"/>
            <a:ext cx="1207008" cy="315468"/>
            <a:chOff x="0" y="0"/>
            <a:chExt cx="1609344" cy="4206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09344" cy="420624"/>
            </a:xfrm>
            <a:custGeom>
              <a:avLst/>
              <a:gdLst/>
              <a:ahLst/>
              <a:cxnLst/>
              <a:rect r="r" b="b" t="t" l="l"/>
              <a:pathLst>
                <a:path h="420624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1" r="0" b="-2455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609344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REDUCE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81328" y="4114800"/>
            <a:ext cx="2743200" cy="1818513"/>
            <a:chOff x="0" y="0"/>
            <a:chExt cx="3657600" cy="24246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2424684"/>
            </a:xfrm>
            <a:custGeom>
              <a:avLst/>
              <a:gdLst/>
              <a:ahLst/>
              <a:cxnLst/>
              <a:rect r="r" b="b" t="t" l="l"/>
              <a:pathLst>
                <a:path h="24246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24684"/>
                  </a:lnTo>
                  <a:lnTo>
                    <a:pt x="0" y="2424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2457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657600" cy="2434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Concentrated liquidity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Governance capture risk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Stale oracles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Crowded unwind path</a:t>
              </a:r>
            </a:p>
          </p:txBody>
        </p:sp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13198" y="3298698"/>
            <a:ext cx="2386584" cy="2386584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 rot="0">
            <a:off x="5815584" y="4037304"/>
            <a:ext cx="658368" cy="676201"/>
            <a:chOff x="0" y="0"/>
            <a:chExt cx="877824" cy="90160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7824" cy="901601"/>
            </a:xfrm>
            <a:custGeom>
              <a:avLst/>
              <a:gdLst/>
              <a:ahLst/>
              <a:cxnLst/>
              <a:rect r="r" b="b" t="t" l="l"/>
              <a:pathLst>
                <a:path h="901601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01601"/>
                  </a:lnTo>
                  <a:lnTo>
                    <a:pt x="0" y="901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" r="0" b="6277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77824" cy="901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733288" y="4675404"/>
            <a:ext cx="822960" cy="137160"/>
            <a:chOff x="0" y="0"/>
            <a:chExt cx="1097280" cy="182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" cy="182880"/>
            </a:xfrm>
            <a:custGeom>
              <a:avLst/>
              <a:gdLst/>
              <a:ahLst/>
              <a:cxnLst/>
              <a:rect r="r" b="b" t="t" l="l"/>
              <a:pathLst>
                <a:path h="1828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097280" cy="18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PRISM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272153" y="5933313"/>
            <a:ext cx="822960" cy="137160"/>
            <a:chOff x="0" y="0"/>
            <a:chExt cx="1097280" cy="1828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182880"/>
            </a:xfrm>
            <a:custGeom>
              <a:avLst/>
              <a:gdLst/>
              <a:ahLst/>
              <a:cxnLst/>
              <a:rect r="r" b="b" t="t" l="l"/>
              <a:pathLst>
                <a:path h="1828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097280" cy="192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Liquidity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181600" y="5951220"/>
            <a:ext cx="2487930" cy="115062"/>
            <a:chOff x="0" y="0"/>
            <a:chExt cx="3317240" cy="15341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3291840" cy="128016"/>
            </a:xfrm>
            <a:custGeom>
              <a:avLst/>
              <a:gdLst/>
              <a:ahLst/>
              <a:cxnLst/>
              <a:rect r="r" b="b" t="t" l="l"/>
              <a:pathLst>
                <a:path h="128016" w="3291840">
                  <a:moveTo>
                    <a:pt x="0" y="21336"/>
                  </a:moveTo>
                  <a:cubicBezTo>
                    <a:pt x="0" y="9525"/>
                    <a:pt x="11303" y="0"/>
                    <a:pt x="25400" y="0"/>
                  </a:cubicBezTo>
                  <a:lnTo>
                    <a:pt x="3266440" y="0"/>
                  </a:lnTo>
                  <a:cubicBezTo>
                    <a:pt x="3280410" y="0"/>
                    <a:pt x="3291840" y="9525"/>
                    <a:pt x="3291840" y="21336"/>
                  </a:cubicBezTo>
                  <a:lnTo>
                    <a:pt x="3291840" y="106680"/>
                  </a:lnTo>
                  <a:cubicBezTo>
                    <a:pt x="3291840" y="118491"/>
                    <a:pt x="3280537" y="128016"/>
                    <a:pt x="3266440" y="128016"/>
                  </a:cubicBezTo>
                  <a:lnTo>
                    <a:pt x="25400" y="128016"/>
                  </a:lnTo>
                  <a:cubicBezTo>
                    <a:pt x="11430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317240" cy="153416"/>
            </a:xfrm>
            <a:custGeom>
              <a:avLst/>
              <a:gdLst/>
              <a:ahLst/>
              <a:cxnLst/>
              <a:rect r="r" b="b" t="t" l="l"/>
              <a:pathLst>
                <a:path h="153416" w="3317240">
                  <a:moveTo>
                    <a:pt x="0" y="34036"/>
                  </a:moveTo>
                  <a:cubicBezTo>
                    <a:pt x="0" y="13208"/>
                    <a:pt x="19177" y="0"/>
                    <a:pt x="38100" y="0"/>
                  </a:cubicBezTo>
                  <a:lnTo>
                    <a:pt x="3279140" y="0"/>
                  </a:lnTo>
                  <a:lnTo>
                    <a:pt x="3279140" y="12700"/>
                  </a:lnTo>
                  <a:lnTo>
                    <a:pt x="3279140" y="0"/>
                  </a:lnTo>
                  <a:cubicBezTo>
                    <a:pt x="3298063" y="0"/>
                    <a:pt x="3317240" y="13208"/>
                    <a:pt x="3317240" y="34036"/>
                  </a:cubicBezTo>
                  <a:lnTo>
                    <a:pt x="3304540" y="34036"/>
                  </a:lnTo>
                  <a:lnTo>
                    <a:pt x="3317240" y="34036"/>
                  </a:lnTo>
                  <a:lnTo>
                    <a:pt x="3317240" y="119380"/>
                  </a:lnTo>
                  <a:lnTo>
                    <a:pt x="3304540" y="119380"/>
                  </a:lnTo>
                  <a:lnTo>
                    <a:pt x="3317240" y="119380"/>
                  </a:lnTo>
                  <a:cubicBezTo>
                    <a:pt x="3317240" y="140208"/>
                    <a:pt x="3298063" y="153416"/>
                    <a:pt x="3279140" y="153416"/>
                  </a:cubicBezTo>
                  <a:lnTo>
                    <a:pt x="3279140" y="140716"/>
                  </a:lnTo>
                  <a:lnTo>
                    <a:pt x="3279140" y="153416"/>
                  </a:lnTo>
                  <a:lnTo>
                    <a:pt x="38100" y="153416"/>
                  </a:lnTo>
                  <a:lnTo>
                    <a:pt x="38100" y="140716"/>
                  </a:lnTo>
                  <a:lnTo>
                    <a:pt x="38100" y="153416"/>
                  </a:lnTo>
                  <a:cubicBezTo>
                    <a:pt x="19177" y="153416"/>
                    <a:pt x="0" y="140208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8100" y="128016"/>
                  </a:cubicBezTo>
                  <a:lnTo>
                    <a:pt x="3279140" y="128016"/>
                  </a:lnTo>
                  <a:cubicBezTo>
                    <a:pt x="3288284" y="128016"/>
                    <a:pt x="3291840" y="122174"/>
                    <a:pt x="3291840" y="119380"/>
                  </a:cubicBezTo>
                  <a:lnTo>
                    <a:pt x="3291840" y="34036"/>
                  </a:lnTo>
                  <a:cubicBezTo>
                    <a:pt x="3291840" y="31242"/>
                    <a:pt x="3288284" y="25400"/>
                    <a:pt x="3279140" y="25400"/>
                  </a:cubicBezTo>
                  <a:lnTo>
                    <a:pt x="38100" y="25400"/>
                  </a:lnTo>
                  <a:lnTo>
                    <a:pt x="38100" y="12700"/>
                  </a:lnTo>
                  <a:lnTo>
                    <a:pt x="38100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181600" y="5951220"/>
            <a:ext cx="2076450" cy="115062"/>
            <a:chOff x="0" y="0"/>
            <a:chExt cx="2768600" cy="1534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2743200" cy="128016"/>
            </a:xfrm>
            <a:custGeom>
              <a:avLst/>
              <a:gdLst/>
              <a:ahLst/>
              <a:cxnLst/>
              <a:rect r="r" b="b" t="t" l="l"/>
              <a:pathLst>
                <a:path h="128016" w="2743200">
                  <a:moveTo>
                    <a:pt x="0" y="21336"/>
                  </a:moveTo>
                  <a:cubicBezTo>
                    <a:pt x="0" y="9525"/>
                    <a:pt x="11303" y="0"/>
                    <a:pt x="25273" y="0"/>
                  </a:cubicBezTo>
                  <a:lnTo>
                    <a:pt x="2717927" y="0"/>
                  </a:lnTo>
                  <a:cubicBezTo>
                    <a:pt x="2731897" y="0"/>
                    <a:pt x="2743200" y="9525"/>
                    <a:pt x="2743200" y="21336"/>
                  </a:cubicBezTo>
                  <a:lnTo>
                    <a:pt x="2743200" y="106680"/>
                  </a:lnTo>
                  <a:cubicBezTo>
                    <a:pt x="2743200" y="118491"/>
                    <a:pt x="2731897" y="128016"/>
                    <a:pt x="2717927" y="128016"/>
                  </a:cubicBezTo>
                  <a:lnTo>
                    <a:pt x="25273" y="128016"/>
                  </a:lnTo>
                  <a:cubicBezTo>
                    <a:pt x="11303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E57373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68600" cy="153416"/>
            </a:xfrm>
            <a:custGeom>
              <a:avLst/>
              <a:gdLst/>
              <a:ahLst/>
              <a:cxnLst/>
              <a:rect r="r" b="b" t="t" l="l"/>
              <a:pathLst>
                <a:path h="153416" w="2768600">
                  <a:moveTo>
                    <a:pt x="0" y="34036"/>
                  </a:moveTo>
                  <a:cubicBezTo>
                    <a:pt x="0" y="13335"/>
                    <a:pt x="19177" y="0"/>
                    <a:pt x="37973" y="0"/>
                  </a:cubicBezTo>
                  <a:lnTo>
                    <a:pt x="2730627" y="0"/>
                  </a:lnTo>
                  <a:lnTo>
                    <a:pt x="2730627" y="12700"/>
                  </a:lnTo>
                  <a:lnTo>
                    <a:pt x="2730627" y="0"/>
                  </a:lnTo>
                  <a:cubicBezTo>
                    <a:pt x="2749423" y="0"/>
                    <a:pt x="2768600" y="13335"/>
                    <a:pt x="2768600" y="34036"/>
                  </a:cubicBezTo>
                  <a:lnTo>
                    <a:pt x="2755900" y="34036"/>
                  </a:lnTo>
                  <a:lnTo>
                    <a:pt x="2768600" y="34036"/>
                  </a:lnTo>
                  <a:lnTo>
                    <a:pt x="2768600" y="119380"/>
                  </a:lnTo>
                  <a:lnTo>
                    <a:pt x="2755900" y="119380"/>
                  </a:lnTo>
                  <a:lnTo>
                    <a:pt x="2768600" y="119380"/>
                  </a:lnTo>
                  <a:cubicBezTo>
                    <a:pt x="2768600" y="140081"/>
                    <a:pt x="2749423" y="153416"/>
                    <a:pt x="2730627" y="153416"/>
                  </a:cubicBezTo>
                  <a:lnTo>
                    <a:pt x="2730627" y="140716"/>
                  </a:lnTo>
                  <a:lnTo>
                    <a:pt x="2730627" y="153416"/>
                  </a:lnTo>
                  <a:lnTo>
                    <a:pt x="37973" y="153416"/>
                  </a:lnTo>
                  <a:lnTo>
                    <a:pt x="37973" y="140716"/>
                  </a:lnTo>
                  <a:lnTo>
                    <a:pt x="37973" y="153416"/>
                  </a:lnTo>
                  <a:cubicBezTo>
                    <a:pt x="19177" y="153416"/>
                    <a:pt x="0" y="140081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7973" y="128016"/>
                  </a:cubicBezTo>
                  <a:lnTo>
                    <a:pt x="2730627" y="128016"/>
                  </a:lnTo>
                  <a:cubicBezTo>
                    <a:pt x="2739771" y="128016"/>
                    <a:pt x="2743200" y="122174"/>
                    <a:pt x="2743200" y="119380"/>
                  </a:cubicBezTo>
                  <a:lnTo>
                    <a:pt x="2743200" y="34036"/>
                  </a:lnTo>
                  <a:cubicBezTo>
                    <a:pt x="2743200" y="31242"/>
                    <a:pt x="2739644" y="25400"/>
                    <a:pt x="2730627" y="25400"/>
                  </a:cubicBezTo>
                  <a:lnTo>
                    <a:pt x="37973" y="25400"/>
                  </a:lnTo>
                  <a:lnTo>
                    <a:pt x="37973" y="12700"/>
                  </a:lnTo>
                  <a:lnTo>
                    <a:pt x="37973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E57373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272153" y="6385941"/>
            <a:ext cx="822960" cy="137160"/>
            <a:chOff x="0" y="0"/>
            <a:chExt cx="1097280" cy="182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" cy="182880"/>
            </a:xfrm>
            <a:custGeom>
              <a:avLst/>
              <a:gdLst/>
              <a:ahLst/>
              <a:cxnLst/>
              <a:rect r="r" b="b" t="t" l="l"/>
              <a:pathLst>
                <a:path h="1828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097280" cy="192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Governance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181600" y="6403848"/>
            <a:ext cx="2487930" cy="115062"/>
            <a:chOff x="0" y="0"/>
            <a:chExt cx="3317240" cy="15341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3291840" cy="128016"/>
            </a:xfrm>
            <a:custGeom>
              <a:avLst/>
              <a:gdLst/>
              <a:ahLst/>
              <a:cxnLst/>
              <a:rect r="r" b="b" t="t" l="l"/>
              <a:pathLst>
                <a:path h="128016" w="3291840">
                  <a:moveTo>
                    <a:pt x="0" y="21336"/>
                  </a:moveTo>
                  <a:cubicBezTo>
                    <a:pt x="0" y="9525"/>
                    <a:pt x="11303" y="0"/>
                    <a:pt x="25400" y="0"/>
                  </a:cubicBezTo>
                  <a:lnTo>
                    <a:pt x="3266440" y="0"/>
                  </a:lnTo>
                  <a:cubicBezTo>
                    <a:pt x="3280410" y="0"/>
                    <a:pt x="3291840" y="9525"/>
                    <a:pt x="3291840" y="21336"/>
                  </a:cubicBezTo>
                  <a:lnTo>
                    <a:pt x="3291840" y="106680"/>
                  </a:lnTo>
                  <a:cubicBezTo>
                    <a:pt x="3291840" y="118491"/>
                    <a:pt x="3280537" y="128016"/>
                    <a:pt x="3266440" y="128016"/>
                  </a:cubicBezTo>
                  <a:lnTo>
                    <a:pt x="25400" y="128016"/>
                  </a:lnTo>
                  <a:cubicBezTo>
                    <a:pt x="11430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17240" cy="153416"/>
            </a:xfrm>
            <a:custGeom>
              <a:avLst/>
              <a:gdLst/>
              <a:ahLst/>
              <a:cxnLst/>
              <a:rect r="r" b="b" t="t" l="l"/>
              <a:pathLst>
                <a:path h="153416" w="3317240">
                  <a:moveTo>
                    <a:pt x="0" y="34036"/>
                  </a:moveTo>
                  <a:cubicBezTo>
                    <a:pt x="0" y="13208"/>
                    <a:pt x="19177" y="0"/>
                    <a:pt x="38100" y="0"/>
                  </a:cubicBezTo>
                  <a:lnTo>
                    <a:pt x="3279140" y="0"/>
                  </a:lnTo>
                  <a:lnTo>
                    <a:pt x="3279140" y="12700"/>
                  </a:lnTo>
                  <a:lnTo>
                    <a:pt x="3279140" y="0"/>
                  </a:lnTo>
                  <a:cubicBezTo>
                    <a:pt x="3298063" y="0"/>
                    <a:pt x="3317240" y="13208"/>
                    <a:pt x="3317240" y="34036"/>
                  </a:cubicBezTo>
                  <a:lnTo>
                    <a:pt x="3304540" y="34036"/>
                  </a:lnTo>
                  <a:lnTo>
                    <a:pt x="3317240" y="34036"/>
                  </a:lnTo>
                  <a:lnTo>
                    <a:pt x="3317240" y="119380"/>
                  </a:lnTo>
                  <a:lnTo>
                    <a:pt x="3304540" y="119380"/>
                  </a:lnTo>
                  <a:lnTo>
                    <a:pt x="3317240" y="119380"/>
                  </a:lnTo>
                  <a:cubicBezTo>
                    <a:pt x="3317240" y="140208"/>
                    <a:pt x="3298063" y="153416"/>
                    <a:pt x="3279140" y="153416"/>
                  </a:cubicBezTo>
                  <a:lnTo>
                    <a:pt x="3279140" y="140716"/>
                  </a:lnTo>
                  <a:lnTo>
                    <a:pt x="3279140" y="153416"/>
                  </a:lnTo>
                  <a:lnTo>
                    <a:pt x="38100" y="153416"/>
                  </a:lnTo>
                  <a:lnTo>
                    <a:pt x="38100" y="140716"/>
                  </a:lnTo>
                  <a:lnTo>
                    <a:pt x="38100" y="153416"/>
                  </a:lnTo>
                  <a:cubicBezTo>
                    <a:pt x="19177" y="153416"/>
                    <a:pt x="0" y="140208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8100" y="128016"/>
                  </a:cubicBezTo>
                  <a:lnTo>
                    <a:pt x="3279140" y="128016"/>
                  </a:lnTo>
                  <a:cubicBezTo>
                    <a:pt x="3288284" y="128016"/>
                    <a:pt x="3291840" y="122174"/>
                    <a:pt x="3291840" y="119380"/>
                  </a:cubicBezTo>
                  <a:lnTo>
                    <a:pt x="3291840" y="34036"/>
                  </a:lnTo>
                  <a:cubicBezTo>
                    <a:pt x="3291840" y="31242"/>
                    <a:pt x="3288284" y="25400"/>
                    <a:pt x="3279140" y="25400"/>
                  </a:cubicBezTo>
                  <a:lnTo>
                    <a:pt x="38100" y="25400"/>
                  </a:lnTo>
                  <a:lnTo>
                    <a:pt x="38100" y="12700"/>
                  </a:lnTo>
                  <a:lnTo>
                    <a:pt x="38100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181600" y="6403848"/>
            <a:ext cx="2007870" cy="115062"/>
            <a:chOff x="0" y="0"/>
            <a:chExt cx="2677160" cy="1534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2700" y="12700"/>
              <a:ext cx="2651760" cy="128016"/>
            </a:xfrm>
            <a:custGeom>
              <a:avLst/>
              <a:gdLst/>
              <a:ahLst/>
              <a:cxnLst/>
              <a:rect r="r" b="b" t="t" l="l"/>
              <a:pathLst>
                <a:path h="128016" w="2651760">
                  <a:moveTo>
                    <a:pt x="0" y="21336"/>
                  </a:moveTo>
                  <a:cubicBezTo>
                    <a:pt x="0" y="9525"/>
                    <a:pt x="11303" y="0"/>
                    <a:pt x="25273" y="0"/>
                  </a:cubicBezTo>
                  <a:lnTo>
                    <a:pt x="2626487" y="0"/>
                  </a:lnTo>
                  <a:cubicBezTo>
                    <a:pt x="2640457" y="0"/>
                    <a:pt x="2651760" y="9525"/>
                    <a:pt x="2651760" y="21336"/>
                  </a:cubicBezTo>
                  <a:lnTo>
                    <a:pt x="2651760" y="106680"/>
                  </a:lnTo>
                  <a:cubicBezTo>
                    <a:pt x="2651760" y="118491"/>
                    <a:pt x="2640457" y="128016"/>
                    <a:pt x="2626487" y="128016"/>
                  </a:cubicBezTo>
                  <a:lnTo>
                    <a:pt x="25273" y="128016"/>
                  </a:lnTo>
                  <a:cubicBezTo>
                    <a:pt x="11303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E57373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77160" cy="153416"/>
            </a:xfrm>
            <a:custGeom>
              <a:avLst/>
              <a:gdLst/>
              <a:ahLst/>
              <a:cxnLst/>
              <a:rect r="r" b="b" t="t" l="l"/>
              <a:pathLst>
                <a:path h="153416" w="2677160">
                  <a:moveTo>
                    <a:pt x="0" y="34036"/>
                  </a:moveTo>
                  <a:cubicBezTo>
                    <a:pt x="0" y="13335"/>
                    <a:pt x="19177" y="0"/>
                    <a:pt x="37973" y="0"/>
                  </a:cubicBezTo>
                  <a:lnTo>
                    <a:pt x="2639187" y="0"/>
                  </a:lnTo>
                  <a:lnTo>
                    <a:pt x="2639187" y="12700"/>
                  </a:lnTo>
                  <a:lnTo>
                    <a:pt x="2639187" y="0"/>
                  </a:lnTo>
                  <a:cubicBezTo>
                    <a:pt x="2658110" y="0"/>
                    <a:pt x="2677160" y="13335"/>
                    <a:pt x="2677160" y="34036"/>
                  </a:cubicBezTo>
                  <a:lnTo>
                    <a:pt x="2664460" y="34036"/>
                  </a:lnTo>
                  <a:lnTo>
                    <a:pt x="2677160" y="34036"/>
                  </a:lnTo>
                  <a:lnTo>
                    <a:pt x="2677160" y="119380"/>
                  </a:lnTo>
                  <a:lnTo>
                    <a:pt x="2664460" y="119380"/>
                  </a:lnTo>
                  <a:lnTo>
                    <a:pt x="2677160" y="119380"/>
                  </a:lnTo>
                  <a:cubicBezTo>
                    <a:pt x="2677160" y="140081"/>
                    <a:pt x="2657983" y="153416"/>
                    <a:pt x="2639187" y="153416"/>
                  </a:cubicBezTo>
                  <a:lnTo>
                    <a:pt x="2639187" y="140716"/>
                  </a:lnTo>
                  <a:lnTo>
                    <a:pt x="2639187" y="153416"/>
                  </a:lnTo>
                  <a:lnTo>
                    <a:pt x="37973" y="153416"/>
                  </a:lnTo>
                  <a:lnTo>
                    <a:pt x="37973" y="140716"/>
                  </a:lnTo>
                  <a:lnTo>
                    <a:pt x="37973" y="153416"/>
                  </a:lnTo>
                  <a:cubicBezTo>
                    <a:pt x="19177" y="153416"/>
                    <a:pt x="0" y="140081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7973" y="128016"/>
                  </a:cubicBezTo>
                  <a:lnTo>
                    <a:pt x="2639187" y="128016"/>
                  </a:lnTo>
                  <a:cubicBezTo>
                    <a:pt x="2648331" y="128016"/>
                    <a:pt x="2651760" y="122174"/>
                    <a:pt x="2651760" y="119380"/>
                  </a:cubicBezTo>
                  <a:lnTo>
                    <a:pt x="2651760" y="34036"/>
                  </a:lnTo>
                  <a:cubicBezTo>
                    <a:pt x="2651760" y="31242"/>
                    <a:pt x="2648204" y="25400"/>
                    <a:pt x="2639187" y="25400"/>
                  </a:cubicBezTo>
                  <a:lnTo>
                    <a:pt x="37973" y="25400"/>
                  </a:lnTo>
                  <a:lnTo>
                    <a:pt x="37973" y="12700"/>
                  </a:lnTo>
                  <a:lnTo>
                    <a:pt x="37973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E5737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272153" y="6838569"/>
            <a:ext cx="822960" cy="137160"/>
            <a:chOff x="0" y="0"/>
            <a:chExt cx="1097280" cy="1828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" cy="182880"/>
            </a:xfrm>
            <a:custGeom>
              <a:avLst/>
              <a:gdLst/>
              <a:ahLst/>
              <a:cxnLst/>
              <a:rect r="r" b="b" t="t" l="l"/>
              <a:pathLst>
                <a:path h="1828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097280" cy="192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Oracle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181600" y="6856476"/>
            <a:ext cx="2487930" cy="115062"/>
            <a:chOff x="0" y="0"/>
            <a:chExt cx="3317240" cy="1534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2700" y="12700"/>
              <a:ext cx="3291840" cy="128016"/>
            </a:xfrm>
            <a:custGeom>
              <a:avLst/>
              <a:gdLst/>
              <a:ahLst/>
              <a:cxnLst/>
              <a:rect r="r" b="b" t="t" l="l"/>
              <a:pathLst>
                <a:path h="128016" w="3291840">
                  <a:moveTo>
                    <a:pt x="0" y="21336"/>
                  </a:moveTo>
                  <a:cubicBezTo>
                    <a:pt x="0" y="9525"/>
                    <a:pt x="11303" y="0"/>
                    <a:pt x="25400" y="0"/>
                  </a:cubicBezTo>
                  <a:lnTo>
                    <a:pt x="3266440" y="0"/>
                  </a:lnTo>
                  <a:cubicBezTo>
                    <a:pt x="3280410" y="0"/>
                    <a:pt x="3291840" y="9525"/>
                    <a:pt x="3291840" y="21336"/>
                  </a:cubicBezTo>
                  <a:lnTo>
                    <a:pt x="3291840" y="106680"/>
                  </a:lnTo>
                  <a:cubicBezTo>
                    <a:pt x="3291840" y="118491"/>
                    <a:pt x="3280537" y="128016"/>
                    <a:pt x="3266440" y="128016"/>
                  </a:cubicBezTo>
                  <a:lnTo>
                    <a:pt x="25400" y="128016"/>
                  </a:lnTo>
                  <a:cubicBezTo>
                    <a:pt x="11430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317240" cy="153416"/>
            </a:xfrm>
            <a:custGeom>
              <a:avLst/>
              <a:gdLst/>
              <a:ahLst/>
              <a:cxnLst/>
              <a:rect r="r" b="b" t="t" l="l"/>
              <a:pathLst>
                <a:path h="153416" w="3317240">
                  <a:moveTo>
                    <a:pt x="0" y="34036"/>
                  </a:moveTo>
                  <a:cubicBezTo>
                    <a:pt x="0" y="13208"/>
                    <a:pt x="19177" y="0"/>
                    <a:pt x="38100" y="0"/>
                  </a:cubicBezTo>
                  <a:lnTo>
                    <a:pt x="3279140" y="0"/>
                  </a:lnTo>
                  <a:lnTo>
                    <a:pt x="3279140" y="12700"/>
                  </a:lnTo>
                  <a:lnTo>
                    <a:pt x="3279140" y="0"/>
                  </a:lnTo>
                  <a:cubicBezTo>
                    <a:pt x="3298063" y="0"/>
                    <a:pt x="3317240" y="13208"/>
                    <a:pt x="3317240" y="34036"/>
                  </a:cubicBezTo>
                  <a:lnTo>
                    <a:pt x="3304540" y="34036"/>
                  </a:lnTo>
                  <a:lnTo>
                    <a:pt x="3317240" y="34036"/>
                  </a:lnTo>
                  <a:lnTo>
                    <a:pt x="3317240" y="119380"/>
                  </a:lnTo>
                  <a:lnTo>
                    <a:pt x="3304540" y="119380"/>
                  </a:lnTo>
                  <a:lnTo>
                    <a:pt x="3317240" y="119380"/>
                  </a:lnTo>
                  <a:cubicBezTo>
                    <a:pt x="3317240" y="140208"/>
                    <a:pt x="3298063" y="153416"/>
                    <a:pt x="3279140" y="153416"/>
                  </a:cubicBezTo>
                  <a:lnTo>
                    <a:pt x="3279140" y="140716"/>
                  </a:lnTo>
                  <a:lnTo>
                    <a:pt x="3279140" y="153416"/>
                  </a:lnTo>
                  <a:lnTo>
                    <a:pt x="38100" y="153416"/>
                  </a:lnTo>
                  <a:lnTo>
                    <a:pt x="38100" y="140716"/>
                  </a:lnTo>
                  <a:lnTo>
                    <a:pt x="38100" y="153416"/>
                  </a:lnTo>
                  <a:cubicBezTo>
                    <a:pt x="19177" y="153416"/>
                    <a:pt x="0" y="140208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8100" y="128016"/>
                  </a:cubicBezTo>
                  <a:lnTo>
                    <a:pt x="3279140" y="128016"/>
                  </a:lnTo>
                  <a:cubicBezTo>
                    <a:pt x="3288284" y="128016"/>
                    <a:pt x="3291840" y="122174"/>
                    <a:pt x="3291840" y="119380"/>
                  </a:cubicBezTo>
                  <a:lnTo>
                    <a:pt x="3291840" y="34036"/>
                  </a:lnTo>
                  <a:cubicBezTo>
                    <a:pt x="3291840" y="31242"/>
                    <a:pt x="3288284" y="25400"/>
                    <a:pt x="3279140" y="25400"/>
                  </a:cubicBezTo>
                  <a:lnTo>
                    <a:pt x="38100" y="25400"/>
                  </a:lnTo>
                  <a:lnTo>
                    <a:pt x="38100" y="12700"/>
                  </a:lnTo>
                  <a:lnTo>
                    <a:pt x="38100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181600" y="6856476"/>
            <a:ext cx="1692402" cy="115062"/>
            <a:chOff x="0" y="0"/>
            <a:chExt cx="2256536" cy="15341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12700"/>
              <a:ext cx="2231136" cy="128016"/>
            </a:xfrm>
            <a:custGeom>
              <a:avLst/>
              <a:gdLst/>
              <a:ahLst/>
              <a:cxnLst/>
              <a:rect r="r" b="b" t="t" l="l"/>
              <a:pathLst>
                <a:path h="128016" w="2231136">
                  <a:moveTo>
                    <a:pt x="0" y="21336"/>
                  </a:moveTo>
                  <a:cubicBezTo>
                    <a:pt x="0" y="9525"/>
                    <a:pt x="11303" y="0"/>
                    <a:pt x="25273" y="0"/>
                  </a:cubicBezTo>
                  <a:lnTo>
                    <a:pt x="2205863" y="0"/>
                  </a:lnTo>
                  <a:cubicBezTo>
                    <a:pt x="2219833" y="0"/>
                    <a:pt x="2231136" y="9525"/>
                    <a:pt x="2231136" y="21336"/>
                  </a:cubicBezTo>
                  <a:lnTo>
                    <a:pt x="2231136" y="106680"/>
                  </a:lnTo>
                  <a:cubicBezTo>
                    <a:pt x="2231136" y="118491"/>
                    <a:pt x="2219833" y="128016"/>
                    <a:pt x="2205863" y="128016"/>
                  </a:cubicBezTo>
                  <a:lnTo>
                    <a:pt x="25273" y="128016"/>
                  </a:lnTo>
                  <a:cubicBezTo>
                    <a:pt x="11303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56536" cy="153416"/>
            </a:xfrm>
            <a:custGeom>
              <a:avLst/>
              <a:gdLst/>
              <a:ahLst/>
              <a:cxnLst/>
              <a:rect r="r" b="b" t="t" l="l"/>
              <a:pathLst>
                <a:path h="153416" w="2256536">
                  <a:moveTo>
                    <a:pt x="0" y="34036"/>
                  </a:moveTo>
                  <a:cubicBezTo>
                    <a:pt x="0" y="13335"/>
                    <a:pt x="19050" y="0"/>
                    <a:pt x="37973" y="0"/>
                  </a:cubicBezTo>
                  <a:lnTo>
                    <a:pt x="2218563" y="0"/>
                  </a:lnTo>
                  <a:lnTo>
                    <a:pt x="2218563" y="12700"/>
                  </a:lnTo>
                  <a:lnTo>
                    <a:pt x="2218563" y="0"/>
                  </a:lnTo>
                  <a:cubicBezTo>
                    <a:pt x="2237486" y="0"/>
                    <a:pt x="2256536" y="13335"/>
                    <a:pt x="2256536" y="34036"/>
                  </a:cubicBezTo>
                  <a:lnTo>
                    <a:pt x="2243836" y="34036"/>
                  </a:lnTo>
                  <a:lnTo>
                    <a:pt x="2256536" y="34036"/>
                  </a:lnTo>
                  <a:lnTo>
                    <a:pt x="2256536" y="119380"/>
                  </a:lnTo>
                  <a:lnTo>
                    <a:pt x="2243836" y="119380"/>
                  </a:lnTo>
                  <a:lnTo>
                    <a:pt x="2256536" y="119380"/>
                  </a:lnTo>
                  <a:cubicBezTo>
                    <a:pt x="2256536" y="140081"/>
                    <a:pt x="2237486" y="153416"/>
                    <a:pt x="2218563" y="153416"/>
                  </a:cubicBezTo>
                  <a:lnTo>
                    <a:pt x="2218563" y="140716"/>
                  </a:lnTo>
                  <a:lnTo>
                    <a:pt x="2218563" y="153416"/>
                  </a:lnTo>
                  <a:lnTo>
                    <a:pt x="37973" y="153416"/>
                  </a:lnTo>
                  <a:lnTo>
                    <a:pt x="37973" y="140716"/>
                  </a:lnTo>
                  <a:lnTo>
                    <a:pt x="37973" y="153416"/>
                  </a:lnTo>
                  <a:cubicBezTo>
                    <a:pt x="19050" y="153416"/>
                    <a:pt x="0" y="140081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7973" y="128016"/>
                  </a:cubicBezTo>
                  <a:lnTo>
                    <a:pt x="2218563" y="128016"/>
                  </a:lnTo>
                  <a:cubicBezTo>
                    <a:pt x="2227580" y="128016"/>
                    <a:pt x="2231136" y="122174"/>
                    <a:pt x="2231136" y="119380"/>
                  </a:cubicBezTo>
                  <a:lnTo>
                    <a:pt x="2231136" y="34036"/>
                  </a:lnTo>
                  <a:cubicBezTo>
                    <a:pt x="2231136" y="31242"/>
                    <a:pt x="2227580" y="25400"/>
                    <a:pt x="2218563" y="25400"/>
                  </a:cubicBezTo>
                  <a:lnTo>
                    <a:pt x="37973" y="25400"/>
                  </a:lnTo>
                  <a:lnTo>
                    <a:pt x="37973" y="12700"/>
                  </a:lnTo>
                  <a:lnTo>
                    <a:pt x="37973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4272153" y="7291197"/>
            <a:ext cx="822960" cy="137160"/>
            <a:chOff x="0" y="0"/>
            <a:chExt cx="1097280" cy="1828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" cy="182880"/>
            </a:xfrm>
            <a:custGeom>
              <a:avLst/>
              <a:gdLst/>
              <a:ahLst/>
              <a:cxnLst/>
              <a:rect r="r" b="b" t="t" l="l"/>
              <a:pathLst>
                <a:path h="1828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097280" cy="192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Supply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181600" y="7309104"/>
            <a:ext cx="2487930" cy="115062"/>
            <a:chOff x="0" y="0"/>
            <a:chExt cx="3317240" cy="1534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2700" y="12700"/>
              <a:ext cx="3291840" cy="128016"/>
            </a:xfrm>
            <a:custGeom>
              <a:avLst/>
              <a:gdLst/>
              <a:ahLst/>
              <a:cxnLst/>
              <a:rect r="r" b="b" t="t" l="l"/>
              <a:pathLst>
                <a:path h="128016" w="3291840">
                  <a:moveTo>
                    <a:pt x="0" y="21336"/>
                  </a:moveTo>
                  <a:cubicBezTo>
                    <a:pt x="0" y="9525"/>
                    <a:pt x="11303" y="0"/>
                    <a:pt x="25400" y="0"/>
                  </a:cubicBezTo>
                  <a:lnTo>
                    <a:pt x="3266440" y="0"/>
                  </a:lnTo>
                  <a:cubicBezTo>
                    <a:pt x="3280410" y="0"/>
                    <a:pt x="3291840" y="9525"/>
                    <a:pt x="3291840" y="21336"/>
                  </a:cubicBezTo>
                  <a:lnTo>
                    <a:pt x="3291840" y="106680"/>
                  </a:lnTo>
                  <a:cubicBezTo>
                    <a:pt x="3291840" y="118491"/>
                    <a:pt x="3280537" y="128016"/>
                    <a:pt x="3266440" y="128016"/>
                  </a:cubicBezTo>
                  <a:lnTo>
                    <a:pt x="25400" y="128016"/>
                  </a:lnTo>
                  <a:cubicBezTo>
                    <a:pt x="11430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317240" cy="153416"/>
            </a:xfrm>
            <a:custGeom>
              <a:avLst/>
              <a:gdLst/>
              <a:ahLst/>
              <a:cxnLst/>
              <a:rect r="r" b="b" t="t" l="l"/>
              <a:pathLst>
                <a:path h="153416" w="3317240">
                  <a:moveTo>
                    <a:pt x="0" y="34036"/>
                  </a:moveTo>
                  <a:cubicBezTo>
                    <a:pt x="0" y="13208"/>
                    <a:pt x="19177" y="0"/>
                    <a:pt x="38100" y="0"/>
                  </a:cubicBezTo>
                  <a:lnTo>
                    <a:pt x="3279140" y="0"/>
                  </a:lnTo>
                  <a:lnTo>
                    <a:pt x="3279140" y="12700"/>
                  </a:lnTo>
                  <a:lnTo>
                    <a:pt x="3279140" y="0"/>
                  </a:lnTo>
                  <a:cubicBezTo>
                    <a:pt x="3298063" y="0"/>
                    <a:pt x="3317240" y="13208"/>
                    <a:pt x="3317240" y="34036"/>
                  </a:cubicBezTo>
                  <a:lnTo>
                    <a:pt x="3304540" y="34036"/>
                  </a:lnTo>
                  <a:lnTo>
                    <a:pt x="3317240" y="34036"/>
                  </a:lnTo>
                  <a:lnTo>
                    <a:pt x="3317240" y="119380"/>
                  </a:lnTo>
                  <a:lnTo>
                    <a:pt x="3304540" y="119380"/>
                  </a:lnTo>
                  <a:lnTo>
                    <a:pt x="3317240" y="119380"/>
                  </a:lnTo>
                  <a:cubicBezTo>
                    <a:pt x="3317240" y="140208"/>
                    <a:pt x="3298063" y="153416"/>
                    <a:pt x="3279140" y="153416"/>
                  </a:cubicBezTo>
                  <a:lnTo>
                    <a:pt x="3279140" y="140716"/>
                  </a:lnTo>
                  <a:lnTo>
                    <a:pt x="3279140" y="153416"/>
                  </a:lnTo>
                  <a:lnTo>
                    <a:pt x="38100" y="153416"/>
                  </a:lnTo>
                  <a:lnTo>
                    <a:pt x="38100" y="140716"/>
                  </a:lnTo>
                  <a:lnTo>
                    <a:pt x="38100" y="153416"/>
                  </a:lnTo>
                  <a:cubicBezTo>
                    <a:pt x="19177" y="153416"/>
                    <a:pt x="0" y="140208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8100" y="128016"/>
                  </a:cubicBezTo>
                  <a:lnTo>
                    <a:pt x="3279140" y="128016"/>
                  </a:lnTo>
                  <a:cubicBezTo>
                    <a:pt x="3288284" y="128016"/>
                    <a:pt x="3291840" y="122174"/>
                    <a:pt x="3291840" y="119380"/>
                  </a:cubicBezTo>
                  <a:lnTo>
                    <a:pt x="3291840" y="34036"/>
                  </a:lnTo>
                  <a:cubicBezTo>
                    <a:pt x="3291840" y="31242"/>
                    <a:pt x="3288284" y="25400"/>
                    <a:pt x="3279140" y="25400"/>
                  </a:cubicBezTo>
                  <a:lnTo>
                    <a:pt x="38100" y="25400"/>
                  </a:lnTo>
                  <a:lnTo>
                    <a:pt x="38100" y="12700"/>
                  </a:lnTo>
                  <a:lnTo>
                    <a:pt x="38100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181600" y="7309104"/>
            <a:ext cx="1527810" cy="115062"/>
            <a:chOff x="0" y="0"/>
            <a:chExt cx="2037080" cy="15341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2700" y="12700"/>
              <a:ext cx="2011680" cy="128016"/>
            </a:xfrm>
            <a:custGeom>
              <a:avLst/>
              <a:gdLst/>
              <a:ahLst/>
              <a:cxnLst/>
              <a:rect r="r" b="b" t="t" l="l"/>
              <a:pathLst>
                <a:path h="128016" w="2011680">
                  <a:moveTo>
                    <a:pt x="0" y="21336"/>
                  </a:moveTo>
                  <a:cubicBezTo>
                    <a:pt x="0" y="9525"/>
                    <a:pt x="11303" y="0"/>
                    <a:pt x="25273" y="0"/>
                  </a:cubicBezTo>
                  <a:lnTo>
                    <a:pt x="1986407" y="0"/>
                  </a:lnTo>
                  <a:cubicBezTo>
                    <a:pt x="2000377" y="0"/>
                    <a:pt x="2011680" y="9525"/>
                    <a:pt x="2011680" y="21336"/>
                  </a:cubicBezTo>
                  <a:lnTo>
                    <a:pt x="2011680" y="106680"/>
                  </a:lnTo>
                  <a:cubicBezTo>
                    <a:pt x="2011680" y="118491"/>
                    <a:pt x="2000377" y="128016"/>
                    <a:pt x="1986407" y="128016"/>
                  </a:cubicBezTo>
                  <a:lnTo>
                    <a:pt x="25273" y="128016"/>
                  </a:lnTo>
                  <a:cubicBezTo>
                    <a:pt x="11303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37080" cy="153416"/>
            </a:xfrm>
            <a:custGeom>
              <a:avLst/>
              <a:gdLst/>
              <a:ahLst/>
              <a:cxnLst/>
              <a:rect r="r" b="b" t="t" l="l"/>
              <a:pathLst>
                <a:path h="153416" w="2037080">
                  <a:moveTo>
                    <a:pt x="0" y="34036"/>
                  </a:moveTo>
                  <a:cubicBezTo>
                    <a:pt x="0" y="13335"/>
                    <a:pt x="19050" y="0"/>
                    <a:pt x="37973" y="0"/>
                  </a:cubicBezTo>
                  <a:lnTo>
                    <a:pt x="1999107" y="0"/>
                  </a:lnTo>
                  <a:lnTo>
                    <a:pt x="1999107" y="12700"/>
                  </a:lnTo>
                  <a:lnTo>
                    <a:pt x="1999107" y="0"/>
                  </a:lnTo>
                  <a:cubicBezTo>
                    <a:pt x="2018030" y="0"/>
                    <a:pt x="2037080" y="13335"/>
                    <a:pt x="2037080" y="34036"/>
                  </a:cubicBezTo>
                  <a:lnTo>
                    <a:pt x="2024380" y="34036"/>
                  </a:lnTo>
                  <a:lnTo>
                    <a:pt x="2037080" y="34036"/>
                  </a:lnTo>
                  <a:lnTo>
                    <a:pt x="2037080" y="119380"/>
                  </a:lnTo>
                  <a:lnTo>
                    <a:pt x="2024380" y="119380"/>
                  </a:lnTo>
                  <a:lnTo>
                    <a:pt x="2037080" y="119380"/>
                  </a:lnTo>
                  <a:cubicBezTo>
                    <a:pt x="2037080" y="140081"/>
                    <a:pt x="2018030" y="153416"/>
                    <a:pt x="1999107" y="153416"/>
                  </a:cubicBezTo>
                  <a:lnTo>
                    <a:pt x="1999107" y="140716"/>
                  </a:lnTo>
                  <a:lnTo>
                    <a:pt x="1999107" y="153416"/>
                  </a:lnTo>
                  <a:lnTo>
                    <a:pt x="37973" y="153416"/>
                  </a:lnTo>
                  <a:lnTo>
                    <a:pt x="37973" y="140716"/>
                  </a:lnTo>
                  <a:lnTo>
                    <a:pt x="37973" y="153416"/>
                  </a:lnTo>
                  <a:cubicBezTo>
                    <a:pt x="19050" y="153416"/>
                    <a:pt x="0" y="140081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7973" y="128016"/>
                  </a:cubicBezTo>
                  <a:lnTo>
                    <a:pt x="1999107" y="128016"/>
                  </a:lnTo>
                  <a:cubicBezTo>
                    <a:pt x="2008124" y="128016"/>
                    <a:pt x="2011680" y="122174"/>
                    <a:pt x="2011680" y="119380"/>
                  </a:cubicBezTo>
                  <a:lnTo>
                    <a:pt x="2011680" y="34036"/>
                  </a:lnTo>
                  <a:cubicBezTo>
                    <a:pt x="2011680" y="31242"/>
                    <a:pt x="2008124" y="25400"/>
                    <a:pt x="1999107" y="25400"/>
                  </a:cubicBezTo>
                  <a:lnTo>
                    <a:pt x="37973" y="25400"/>
                  </a:lnTo>
                  <a:lnTo>
                    <a:pt x="37973" y="12700"/>
                  </a:lnTo>
                  <a:lnTo>
                    <a:pt x="37973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656064" y="2948940"/>
            <a:ext cx="1371600" cy="274320"/>
            <a:chOff x="0" y="0"/>
            <a:chExt cx="1828800" cy="3657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828800" cy="365760"/>
            </a:xfrm>
            <a:custGeom>
              <a:avLst/>
              <a:gdLst/>
              <a:ahLst/>
              <a:cxnLst/>
              <a:rect r="r" b="b" t="t" l="l"/>
              <a:pathLst>
                <a:path h="36576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18288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Protocol B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656064" y="2709709"/>
            <a:ext cx="2194560" cy="1219126"/>
            <a:chOff x="0" y="0"/>
            <a:chExt cx="2926080" cy="162550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926080" cy="1625501"/>
            </a:xfrm>
            <a:custGeom>
              <a:avLst/>
              <a:gdLst/>
              <a:ahLst/>
              <a:cxnLst/>
              <a:rect r="r" b="b" t="t" l="l"/>
              <a:pathLst>
                <a:path h="1625501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625501"/>
                  </a:lnTo>
                  <a:lnTo>
                    <a:pt x="0" y="16255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74" r="0" b="4692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2926080" cy="1625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</a:p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$500M TVL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033123" y="3350895"/>
            <a:ext cx="1088898" cy="375666"/>
            <a:chOff x="0" y="0"/>
            <a:chExt cx="1451864" cy="50088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2700" y="12700"/>
              <a:ext cx="1426464" cy="475488"/>
            </a:xfrm>
            <a:custGeom>
              <a:avLst/>
              <a:gdLst/>
              <a:ahLst/>
              <a:cxnLst/>
              <a:rect r="r" b="b" t="t" l="l"/>
              <a:pathLst>
                <a:path h="475488" w="1426464">
                  <a:moveTo>
                    <a:pt x="0" y="237744"/>
                  </a:moveTo>
                  <a:cubicBezTo>
                    <a:pt x="0" y="106426"/>
                    <a:pt x="110109" y="0"/>
                    <a:pt x="246126" y="0"/>
                  </a:cubicBezTo>
                  <a:lnTo>
                    <a:pt x="1180338" y="0"/>
                  </a:lnTo>
                  <a:cubicBezTo>
                    <a:pt x="1316228" y="0"/>
                    <a:pt x="1426464" y="106426"/>
                    <a:pt x="1426464" y="237744"/>
                  </a:cubicBezTo>
                  <a:cubicBezTo>
                    <a:pt x="1426464" y="369062"/>
                    <a:pt x="1316355" y="475488"/>
                    <a:pt x="1180338" y="475488"/>
                  </a:cubicBezTo>
                  <a:lnTo>
                    <a:pt x="246126" y="475488"/>
                  </a:lnTo>
                  <a:cubicBezTo>
                    <a:pt x="110109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A7C7E7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51864" cy="500888"/>
            </a:xfrm>
            <a:custGeom>
              <a:avLst/>
              <a:gdLst/>
              <a:ahLst/>
              <a:cxnLst/>
              <a:rect r="r" b="b" t="t" l="l"/>
              <a:pathLst>
                <a:path h="500888" w="1451864">
                  <a:moveTo>
                    <a:pt x="0" y="250444"/>
                  </a:moveTo>
                  <a:cubicBezTo>
                    <a:pt x="0" y="111760"/>
                    <a:pt x="116205" y="0"/>
                    <a:pt x="258826" y="0"/>
                  </a:cubicBezTo>
                  <a:lnTo>
                    <a:pt x="1193038" y="0"/>
                  </a:lnTo>
                  <a:lnTo>
                    <a:pt x="1193038" y="12700"/>
                  </a:lnTo>
                  <a:lnTo>
                    <a:pt x="1193038" y="0"/>
                  </a:lnTo>
                  <a:cubicBezTo>
                    <a:pt x="1335532" y="0"/>
                    <a:pt x="1451864" y="111760"/>
                    <a:pt x="1451864" y="250444"/>
                  </a:cubicBezTo>
                  <a:lnTo>
                    <a:pt x="1439164" y="250444"/>
                  </a:lnTo>
                  <a:lnTo>
                    <a:pt x="1451864" y="250444"/>
                  </a:lnTo>
                  <a:lnTo>
                    <a:pt x="1439164" y="250444"/>
                  </a:lnTo>
                  <a:lnTo>
                    <a:pt x="1451864" y="250444"/>
                  </a:lnTo>
                  <a:cubicBezTo>
                    <a:pt x="1451864" y="389128"/>
                    <a:pt x="1335659" y="500888"/>
                    <a:pt x="1193038" y="500888"/>
                  </a:cubicBezTo>
                  <a:lnTo>
                    <a:pt x="1193038" y="488188"/>
                  </a:lnTo>
                  <a:lnTo>
                    <a:pt x="1193038" y="500888"/>
                  </a:lnTo>
                  <a:lnTo>
                    <a:pt x="258826" y="500888"/>
                  </a:lnTo>
                  <a:lnTo>
                    <a:pt x="258826" y="488188"/>
                  </a:lnTo>
                  <a:lnTo>
                    <a:pt x="258826" y="500888"/>
                  </a:lnTo>
                  <a:cubicBezTo>
                    <a:pt x="116205" y="500888"/>
                    <a:pt x="0" y="389128"/>
                    <a:pt x="0" y="250444"/>
                  </a:cubicBezTo>
                  <a:cubicBezTo>
                    <a:pt x="0" y="248031"/>
                    <a:pt x="635" y="245745"/>
                    <a:pt x="1905" y="243713"/>
                  </a:cubicBezTo>
                  <a:lnTo>
                    <a:pt x="12700" y="250444"/>
                  </a:lnTo>
                  <a:lnTo>
                    <a:pt x="0" y="250444"/>
                  </a:lnTo>
                  <a:moveTo>
                    <a:pt x="25400" y="250444"/>
                  </a:moveTo>
                  <a:cubicBezTo>
                    <a:pt x="25400" y="252857"/>
                    <a:pt x="24765" y="255143"/>
                    <a:pt x="23495" y="257175"/>
                  </a:cubicBezTo>
                  <a:lnTo>
                    <a:pt x="12700" y="250444"/>
                  </a:lnTo>
                  <a:lnTo>
                    <a:pt x="25400" y="250444"/>
                  </a:lnTo>
                  <a:cubicBezTo>
                    <a:pt x="25400" y="374269"/>
                    <a:pt x="129413" y="475488"/>
                    <a:pt x="258826" y="475488"/>
                  </a:cubicBezTo>
                  <a:lnTo>
                    <a:pt x="1193038" y="475488"/>
                  </a:lnTo>
                  <a:cubicBezTo>
                    <a:pt x="1322324" y="475488"/>
                    <a:pt x="1426464" y="374269"/>
                    <a:pt x="1426464" y="250444"/>
                  </a:cubicBezTo>
                  <a:cubicBezTo>
                    <a:pt x="1426464" y="126619"/>
                    <a:pt x="1322451" y="25400"/>
                    <a:pt x="1193038" y="25400"/>
                  </a:cubicBezTo>
                  <a:lnTo>
                    <a:pt x="258826" y="25400"/>
                  </a:lnTo>
                  <a:lnTo>
                    <a:pt x="258826" y="12700"/>
                  </a:lnTo>
                  <a:lnTo>
                    <a:pt x="258826" y="25400"/>
                  </a:lnTo>
                  <a:cubicBezTo>
                    <a:pt x="129413" y="25400"/>
                    <a:pt x="25400" y="126619"/>
                    <a:pt x="25400" y="250444"/>
                  </a:cubicBezTo>
                  <a:close/>
                </a:path>
              </a:pathLst>
            </a:custGeom>
            <a:solidFill>
              <a:srgbClr val="A7C7E7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042648" y="3401568"/>
            <a:ext cx="1069848" cy="315468"/>
            <a:chOff x="0" y="0"/>
            <a:chExt cx="1426464" cy="42062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26464" cy="420624"/>
            </a:xfrm>
            <a:custGeom>
              <a:avLst/>
              <a:gdLst/>
              <a:ahLst/>
              <a:cxnLst/>
              <a:rect r="r" b="b" t="t" l="l"/>
              <a:pathLst>
                <a:path h="42062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79" r="0" b="-1607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1426464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HOLD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656064" y="4267533"/>
            <a:ext cx="2743200" cy="1371600"/>
            <a:chOff x="0" y="0"/>
            <a:chExt cx="3657600" cy="18288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57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365760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Diversified LP base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Healthy collateral mix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Fresh oracle updates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Distributed governance</a:t>
              </a:r>
            </a:p>
          </p:txBody>
        </p:sp>
      </p:grpSp>
      <p:pic>
        <p:nvPicPr>
          <p:cNvPr name="Picture 91" id="9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33070" y="3298698"/>
            <a:ext cx="2386584" cy="2386584"/>
          </a:xfrm>
          <a:prstGeom prst="rect">
            <a:avLst/>
          </a:prstGeom>
        </p:spPr>
      </p:pic>
      <p:grpSp>
        <p:nvGrpSpPr>
          <p:cNvPr name="Group 92" id="92"/>
          <p:cNvGrpSpPr/>
          <p:nvPr/>
        </p:nvGrpSpPr>
        <p:grpSpPr>
          <a:xfrm rot="0">
            <a:off x="13956030" y="4037304"/>
            <a:ext cx="658368" cy="676201"/>
            <a:chOff x="0" y="0"/>
            <a:chExt cx="877824" cy="90160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7824" cy="901601"/>
            </a:xfrm>
            <a:custGeom>
              <a:avLst/>
              <a:gdLst/>
              <a:ahLst/>
              <a:cxnLst/>
              <a:rect r="r" b="b" t="t" l="l"/>
              <a:pathLst>
                <a:path h="901601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901601"/>
                  </a:lnTo>
                  <a:lnTo>
                    <a:pt x="0" y="901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" r="0" b="6277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877824" cy="901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78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883259" y="4675404"/>
            <a:ext cx="822960" cy="137160"/>
            <a:chOff x="0" y="0"/>
            <a:chExt cx="1097280" cy="1828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" cy="182880"/>
            </a:xfrm>
            <a:custGeom>
              <a:avLst/>
              <a:gdLst/>
              <a:ahLst/>
              <a:cxnLst/>
              <a:rect r="r" b="b" t="t" l="l"/>
              <a:pathLst>
                <a:path h="1828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1097280" cy="182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PRISM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437364" y="5919216"/>
            <a:ext cx="822960" cy="137160"/>
            <a:chOff x="0" y="0"/>
            <a:chExt cx="1097280" cy="1828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97280" cy="182880"/>
            </a:xfrm>
            <a:custGeom>
              <a:avLst/>
              <a:gdLst/>
              <a:ahLst/>
              <a:cxnLst/>
              <a:rect r="r" b="b" t="t" l="l"/>
              <a:pathLst>
                <a:path h="1828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1097280" cy="192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Liquidity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346811" y="5937123"/>
            <a:ext cx="2487930" cy="115062"/>
            <a:chOff x="0" y="0"/>
            <a:chExt cx="3317240" cy="15341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2700" y="12700"/>
              <a:ext cx="3291840" cy="128016"/>
            </a:xfrm>
            <a:custGeom>
              <a:avLst/>
              <a:gdLst/>
              <a:ahLst/>
              <a:cxnLst/>
              <a:rect r="r" b="b" t="t" l="l"/>
              <a:pathLst>
                <a:path h="128016" w="3291840">
                  <a:moveTo>
                    <a:pt x="0" y="21336"/>
                  </a:moveTo>
                  <a:cubicBezTo>
                    <a:pt x="0" y="9525"/>
                    <a:pt x="11303" y="0"/>
                    <a:pt x="25400" y="0"/>
                  </a:cubicBezTo>
                  <a:lnTo>
                    <a:pt x="3266440" y="0"/>
                  </a:lnTo>
                  <a:cubicBezTo>
                    <a:pt x="3280410" y="0"/>
                    <a:pt x="3291840" y="9525"/>
                    <a:pt x="3291840" y="21336"/>
                  </a:cubicBezTo>
                  <a:lnTo>
                    <a:pt x="3291840" y="106680"/>
                  </a:lnTo>
                  <a:cubicBezTo>
                    <a:pt x="3291840" y="118491"/>
                    <a:pt x="3280537" y="128016"/>
                    <a:pt x="3266440" y="128016"/>
                  </a:cubicBezTo>
                  <a:lnTo>
                    <a:pt x="25400" y="128016"/>
                  </a:lnTo>
                  <a:cubicBezTo>
                    <a:pt x="11430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317240" cy="153416"/>
            </a:xfrm>
            <a:custGeom>
              <a:avLst/>
              <a:gdLst/>
              <a:ahLst/>
              <a:cxnLst/>
              <a:rect r="r" b="b" t="t" l="l"/>
              <a:pathLst>
                <a:path h="153416" w="3317240">
                  <a:moveTo>
                    <a:pt x="0" y="34036"/>
                  </a:moveTo>
                  <a:cubicBezTo>
                    <a:pt x="0" y="13208"/>
                    <a:pt x="19177" y="0"/>
                    <a:pt x="38100" y="0"/>
                  </a:cubicBezTo>
                  <a:lnTo>
                    <a:pt x="3279140" y="0"/>
                  </a:lnTo>
                  <a:lnTo>
                    <a:pt x="3279140" y="12700"/>
                  </a:lnTo>
                  <a:lnTo>
                    <a:pt x="3279140" y="0"/>
                  </a:lnTo>
                  <a:cubicBezTo>
                    <a:pt x="3298063" y="0"/>
                    <a:pt x="3317240" y="13208"/>
                    <a:pt x="3317240" y="34036"/>
                  </a:cubicBezTo>
                  <a:lnTo>
                    <a:pt x="3304540" y="34036"/>
                  </a:lnTo>
                  <a:lnTo>
                    <a:pt x="3317240" y="34036"/>
                  </a:lnTo>
                  <a:lnTo>
                    <a:pt x="3317240" y="119380"/>
                  </a:lnTo>
                  <a:lnTo>
                    <a:pt x="3304540" y="119380"/>
                  </a:lnTo>
                  <a:lnTo>
                    <a:pt x="3317240" y="119380"/>
                  </a:lnTo>
                  <a:cubicBezTo>
                    <a:pt x="3317240" y="140208"/>
                    <a:pt x="3298063" y="153416"/>
                    <a:pt x="3279140" y="153416"/>
                  </a:cubicBezTo>
                  <a:lnTo>
                    <a:pt x="3279140" y="140716"/>
                  </a:lnTo>
                  <a:lnTo>
                    <a:pt x="3279140" y="153416"/>
                  </a:lnTo>
                  <a:lnTo>
                    <a:pt x="38100" y="153416"/>
                  </a:lnTo>
                  <a:lnTo>
                    <a:pt x="38100" y="140716"/>
                  </a:lnTo>
                  <a:lnTo>
                    <a:pt x="38100" y="153416"/>
                  </a:lnTo>
                  <a:cubicBezTo>
                    <a:pt x="19177" y="153416"/>
                    <a:pt x="0" y="140208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8100" y="128016"/>
                  </a:cubicBezTo>
                  <a:lnTo>
                    <a:pt x="3279140" y="128016"/>
                  </a:lnTo>
                  <a:cubicBezTo>
                    <a:pt x="3288284" y="128016"/>
                    <a:pt x="3291840" y="122174"/>
                    <a:pt x="3291840" y="119380"/>
                  </a:cubicBezTo>
                  <a:lnTo>
                    <a:pt x="3291840" y="34036"/>
                  </a:lnTo>
                  <a:cubicBezTo>
                    <a:pt x="3291840" y="31242"/>
                    <a:pt x="3288284" y="25400"/>
                    <a:pt x="3279140" y="25400"/>
                  </a:cubicBezTo>
                  <a:lnTo>
                    <a:pt x="38100" y="25400"/>
                  </a:lnTo>
                  <a:lnTo>
                    <a:pt x="38100" y="12700"/>
                  </a:lnTo>
                  <a:lnTo>
                    <a:pt x="38100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346811" y="5937123"/>
            <a:ext cx="1870710" cy="115062"/>
            <a:chOff x="0" y="0"/>
            <a:chExt cx="2494280" cy="1534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2700" y="12700"/>
              <a:ext cx="2468880" cy="128016"/>
            </a:xfrm>
            <a:custGeom>
              <a:avLst/>
              <a:gdLst/>
              <a:ahLst/>
              <a:cxnLst/>
              <a:rect r="r" b="b" t="t" l="l"/>
              <a:pathLst>
                <a:path h="128016" w="2468880">
                  <a:moveTo>
                    <a:pt x="0" y="21336"/>
                  </a:moveTo>
                  <a:cubicBezTo>
                    <a:pt x="0" y="9525"/>
                    <a:pt x="11303" y="0"/>
                    <a:pt x="25273" y="0"/>
                  </a:cubicBezTo>
                  <a:lnTo>
                    <a:pt x="2443607" y="0"/>
                  </a:lnTo>
                  <a:cubicBezTo>
                    <a:pt x="2457577" y="0"/>
                    <a:pt x="2468880" y="9525"/>
                    <a:pt x="2468880" y="21336"/>
                  </a:cubicBezTo>
                  <a:lnTo>
                    <a:pt x="2468880" y="106680"/>
                  </a:lnTo>
                  <a:cubicBezTo>
                    <a:pt x="2468880" y="118491"/>
                    <a:pt x="2457577" y="128016"/>
                    <a:pt x="2443607" y="128016"/>
                  </a:cubicBezTo>
                  <a:lnTo>
                    <a:pt x="25273" y="128016"/>
                  </a:lnTo>
                  <a:cubicBezTo>
                    <a:pt x="11303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81C784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494280" cy="153416"/>
            </a:xfrm>
            <a:custGeom>
              <a:avLst/>
              <a:gdLst/>
              <a:ahLst/>
              <a:cxnLst/>
              <a:rect r="r" b="b" t="t" l="l"/>
              <a:pathLst>
                <a:path h="153416" w="2494280">
                  <a:moveTo>
                    <a:pt x="0" y="34036"/>
                  </a:moveTo>
                  <a:cubicBezTo>
                    <a:pt x="0" y="13335"/>
                    <a:pt x="19177" y="0"/>
                    <a:pt x="37973" y="0"/>
                  </a:cubicBezTo>
                  <a:lnTo>
                    <a:pt x="2456307" y="0"/>
                  </a:lnTo>
                  <a:lnTo>
                    <a:pt x="2456307" y="12700"/>
                  </a:lnTo>
                  <a:lnTo>
                    <a:pt x="2456307" y="0"/>
                  </a:lnTo>
                  <a:cubicBezTo>
                    <a:pt x="2475230" y="0"/>
                    <a:pt x="2494280" y="13335"/>
                    <a:pt x="2494280" y="34036"/>
                  </a:cubicBezTo>
                  <a:lnTo>
                    <a:pt x="2481580" y="34036"/>
                  </a:lnTo>
                  <a:lnTo>
                    <a:pt x="2494280" y="34036"/>
                  </a:lnTo>
                  <a:lnTo>
                    <a:pt x="2494280" y="119380"/>
                  </a:lnTo>
                  <a:lnTo>
                    <a:pt x="2481580" y="119380"/>
                  </a:lnTo>
                  <a:lnTo>
                    <a:pt x="2494280" y="119380"/>
                  </a:lnTo>
                  <a:cubicBezTo>
                    <a:pt x="2494280" y="140081"/>
                    <a:pt x="2475103" y="153416"/>
                    <a:pt x="2456307" y="153416"/>
                  </a:cubicBezTo>
                  <a:lnTo>
                    <a:pt x="2456307" y="140716"/>
                  </a:lnTo>
                  <a:lnTo>
                    <a:pt x="2456307" y="153416"/>
                  </a:lnTo>
                  <a:lnTo>
                    <a:pt x="37973" y="153416"/>
                  </a:lnTo>
                  <a:lnTo>
                    <a:pt x="37973" y="140716"/>
                  </a:lnTo>
                  <a:lnTo>
                    <a:pt x="37973" y="153416"/>
                  </a:lnTo>
                  <a:cubicBezTo>
                    <a:pt x="19177" y="153416"/>
                    <a:pt x="0" y="140081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7973" y="128016"/>
                  </a:cubicBezTo>
                  <a:lnTo>
                    <a:pt x="2456307" y="128016"/>
                  </a:lnTo>
                  <a:cubicBezTo>
                    <a:pt x="2465451" y="128016"/>
                    <a:pt x="2468880" y="122174"/>
                    <a:pt x="2468880" y="119380"/>
                  </a:cubicBezTo>
                  <a:lnTo>
                    <a:pt x="2468880" y="34036"/>
                  </a:lnTo>
                  <a:cubicBezTo>
                    <a:pt x="2468880" y="31242"/>
                    <a:pt x="2465324" y="25400"/>
                    <a:pt x="2456307" y="25400"/>
                  </a:cubicBezTo>
                  <a:lnTo>
                    <a:pt x="37973" y="25400"/>
                  </a:lnTo>
                  <a:lnTo>
                    <a:pt x="37973" y="12700"/>
                  </a:lnTo>
                  <a:lnTo>
                    <a:pt x="37973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81C784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437364" y="6371844"/>
            <a:ext cx="822960" cy="137160"/>
            <a:chOff x="0" y="0"/>
            <a:chExt cx="1097280" cy="1828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97280" cy="182880"/>
            </a:xfrm>
            <a:custGeom>
              <a:avLst/>
              <a:gdLst/>
              <a:ahLst/>
              <a:cxnLst/>
              <a:rect r="r" b="b" t="t" l="l"/>
              <a:pathLst>
                <a:path h="1828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1097280" cy="192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Governance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346811" y="6389751"/>
            <a:ext cx="2487930" cy="115062"/>
            <a:chOff x="0" y="0"/>
            <a:chExt cx="3317240" cy="15341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2700" y="12700"/>
              <a:ext cx="3291840" cy="128016"/>
            </a:xfrm>
            <a:custGeom>
              <a:avLst/>
              <a:gdLst/>
              <a:ahLst/>
              <a:cxnLst/>
              <a:rect r="r" b="b" t="t" l="l"/>
              <a:pathLst>
                <a:path h="128016" w="3291840">
                  <a:moveTo>
                    <a:pt x="0" y="21336"/>
                  </a:moveTo>
                  <a:cubicBezTo>
                    <a:pt x="0" y="9525"/>
                    <a:pt x="11303" y="0"/>
                    <a:pt x="25400" y="0"/>
                  </a:cubicBezTo>
                  <a:lnTo>
                    <a:pt x="3266440" y="0"/>
                  </a:lnTo>
                  <a:cubicBezTo>
                    <a:pt x="3280410" y="0"/>
                    <a:pt x="3291840" y="9525"/>
                    <a:pt x="3291840" y="21336"/>
                  </a:cubicBezTo>
                  <a:lnTo>
                    <a:pt x="3291840" y="106680"/>
                  </a:lnTo>
                  <a:cubicBezTo>
                    <a:pt x="3291840" y="118491"/>
                    <a:pt x="3280537" y="128016"/>
                    <a:pt x="3266440" y="128016"/>
                  </a:cubicBezTo>
                  <a:lnTo>
                    <a:pt x="25400" y="128016"/>
                  </a:lnTo>
                  <a:cubicBezTo>
                    <a:pt x="11430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317240" cy="153416"/>
            </a:xfrm>
            <a:custGeom>
              <a:avLst/>
              <a:gdLst/>
              <a:ahLst/>
              <a:cxnLst/>
              <a:rect r="r" b="b" t="t" l="l"/>
              <a:pathLst>
                <a:path h="153416" w="3317240">
                  <a:moveTo>
                    <a:pt x="0" y="34036"/>
                  </a:moveTo>
                  <a:cubicBezTo>
                    <a:pt x="0" y="13208"/>
                    <a:pt x="19177" y="0"/>
                    <a:pt x="38100" y="0"/>
                  </a:cubicBezTo>
                  <a:lnTo>
                    <a:pt x="3279140" y="0"/>
                  </a:lnTo>
                  <a:lnTo>
                    <a:pt x="3279140" y="12700"/>
                  </a:lnTo>
                  <a:lnTo>
                    <a:pt x="3279140" y="0"/>
                  </a:lnTo>
                  <a:cubicBezTo>
                    <a:pt x="3298063" y="0"/>
                    <a:pt x="3317240" y="13208"/>
                    <a:pt x="3317240" y="34036"/>
                  </a:cubicBezTo>
                  <a:lnTo>
                    <a:pt x="3304540" y="34036"/>
                  </a:lnTo>
                  <a:lnTo>
                    <a:pt x="3317240" y="34036"/>
                  </a:lnTo>
                  <a:lnTo>
                    <a:pt x="3317240" y="119380"/>
                  </a:lnTo>
                  <a:lnTo>
                    <a:pt x="3304540" y="119380"/>
                  </a:lnTo>
                  <a:lnTo>
                    <a:pt x="3317240" y="119380"/>
                  </a:lnTo>
                  <a:cubicBezTo>
                    <a:pt x="3317240" y="140208"/>
                    <a:pt x="3298063" y="153416"/>
                    <a:pt x="3279140" y="153416"/>
                  </a:cubicBezTo>
                  <a:lnTo>
                    <a:pt x="3279140" y="140716"/>
                  </a:lnTo>
                  <a:lnTo>
                    <a:pt x="3279140" y="153416"/>
                  </a:lnTo>
                  <a:lnTo>
                    <a:pt x="38100" y="153416"/>
                  </a:lnTo>
                  <a:lnTo>
                    <a:pt x="38100" y="140716"/>
                  </a:lnTo>
                  <a:lnTo>
                    <a:pt x="38100" y="153416"/>
                  </a:lnTo>
                  <a:cubicBezTo>
                    <a:pt x="19177" y="153416"/>
                    <a:pt x="0" y="140208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8100" y="128016"/>
                  </a:cubicBezTo>
                  <a:lnTo>
                    <a:pt x="3279140" y="128016"/>
                  </a:lnTo>
                  <a:cubicBezTo>
                    <a:pt x="3288284" y="128016"/>
                    <a:pt x="3291840" y="122174"/>
                    <a:pt x="3291840" y="119380"/>
                  </a:cubicBezTo>
                  <a:lnTo>
                    <a:pt x="3291840" y="34036"/>
                  </a:lnTo>
                  <a:cubicBezTo>
                    <a:pt x="3291840" y="31242"/>
                    <a:pt x="3288284" y="25400"/>
                    <a:pt x="3279140" y="25400"/>
                  </a:cubicBezTo>
                  <a:lnTo>
                    <a:pt x="38100" y="25400"/>
                  </a:lnTo>
                  <a:lnTo>
                    <a:pt x="38100" y="12700"/>
                  </a:lnTo>
                  <a:lnTo>
                    <a:pt x="38100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346811" y="6389751"/>
            <a:ext cx="1733550" cy="115062"/>
            <a:chOff x="0" y="0"/>
            <a:chExt cx="2311400" cy="15341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2700" y="12700"/>
              <a:ext cx="2286000" cy="128016"/>
            </a:xfrm>
            <a:custGeom>
              <a:avLst/>
              <a:gdLst/>
              <a:ahLst/>
              <a:cxnLst/>
              <a:rect r="r" b="b" t="t" l="l"/>
              <a:pathLst>
                <a:path h="128016" w="2286000">
                  <a:moveTo>
                    <a:pt x="0" y="21336"/>
                  </a:moveTo>
                  <a:cubicBezTo>
                    <a:pt x="0" y="9525"/>
                    <a:pt x="11303" y="0"/>
                    <a:pt x="25273" y="0"/>
                  </a:cubicBezTo>
                  <a:lnTo>
                    <a:pt x="2260727" y="0"/>
                  </a:lnTo>
                  <a:cubicBezTo>
                    <a:pt x="2274697" y="0"/>
                    <a:pt x="2286000" y="9525"/>
                    <a:pt x="2286000" y="21336"/>
                  </a:cubicBezTo>
                  <a:lnTo>
                    <a:pt x="2286000" y="106680"/>
                  </a:lnTo>
                  <a:cubicBezTo>
                    <a:pt x="2286000" y="118491"/>
                    <a:pt x="2274697" y="128016"/>
                    <a:pt x="2260727" y="128016"/>
                  </a:cubicBezTo>
                  <a:lnTo>
                    <a:pt x="25273" y="128016"/>
                  </a:lnTo>
                  <a:cubicBezTo>
                    <a:pt x="11303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81C784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311400" cy="153416"/>
            </a:xfrm>
            <a:custGeom>
              <a:avLst/>
              <a:gdLst/>
              <a:ahLst/>
              <a:cxnLst/>
              <a:rect r="r" b="b" t="t" l="l"/>
              <a:pathLst>
                <a:path h="153416" w="2311400">
                  <a:moveTo>
                    <a:pt x="0" y="34036"/>
                  </a:moveTo>
                  <a:cubicBezTo>
                    <a:pt x="0" y="13335"/>
                    <a:pt x="19177" y="0"/>
                    <a:pt x="37973" y="0"/>
                  </a:cubicBezTo>
                  <a:lnTo>
                    <a:pt x="2273427" y="0"/>
                  </a:lnTo>
                  <a:lnTo>
                    <a:pt x="2273427" y="12700"/>
                  </a:lnTo>
                  <a:lnTo>
                    <a:pt x="2273427" y="0"/>
                  </a:lnTo>
                  <a:cubicBezTo>
                    <a:pt x="2292223" y="0"/>
                    <a:pt x="2311400" y="13335"/>
                    <a:pt x="2311400" y="34036"/>
                  </a:cubicBezTo>
                  <a:lnTo>
                    <a:pt x="2298700" y="34036"/>
                  </a:lnTo>
                  <a:lnTo>
                    <a:pt x="2311400" y="34036"/>
                  </a:lnTo>
                  <a:lnTo>
                    <a:pt x="2311400" y="119380"/>
                  </a:lnTo>
                  <a:lnTo>
                    <a:pt x="2298700" y="119380"/>
                  </a:lnTo>
                  <a:lnTo>
                    <a:pt x="2311400" y="119380"/>
                  </a:lnTo>
                  <a:cubicBezTo>
                    <a:pt x="2311400" y="140081"/>
                    <a:pt x="2292223" y="153416"/>
                    <a:pt x="2273427" y="153416"/>
                  </a:cubicBezTo>
                  <a:lnTo>
                    <a:pt x="2273427" y="140716"/>
                  </a:lnTo>
                  <a:lnTo>
                    <a:pt x="2273427" y="153416"/>
                  </a:lnTo>
                  <a:lnTo>
                    <a:pt x="37973" y="153416"/>
                  </a:lnTo>
                  <a:lnTo>
                    <a:pt x="37973" y="140716"/>
                  </a:lnTo>
                  <a:lnTo>
                    <a:pt x="37973" y="153416"/>
                  </a:lnTo>
                  <a:cubicBezTo>
                    <a:pt x="19177" y="153416"/>
                    <a:pt x="0" y="140081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7973" y="128016"/>
                  </a:cubicBezTo>
                  <a:lnTo>
                    <a:pt x="2273427" y="128016"/>
                  </a:lnTo>
                  <a:cubicBezTo>
                    <a:pt x="2282444" y="128016"/>
                    <a:pt x="2286000" y="122174"/>
                    <a:pt x="2286000" y="119380"/>
                  </a:cubicBezTo>
                  <a:lnTo>
                    <a:pt x="2286000" y="34036"/>
                  </a:lnTo>
                  <a:cubicBezTo>
                    <a:pt x="2286000" y="31242"/>
                    <a:pt x="2282444" y="25400"/>
                    <a:pt x="2273427" y="25400"/>
                  </a:cubicBezTo>
                  <a:lnTo>
                    <a:pt x="37973" y="25400"/>
                  </a:lnTo>
                  <a:lnTo>
                    <a:pt x="37973" y="12700"/>
                  </a:lnTo>
                  <a:lnTo>
                    <a:pt x="37973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81C784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437364" y="6824472"/>
            <a:ext cx="822960" cy="137160"/>
            <a:chOff x="0" y="0"/>
            <a:chExt cx="1097280" cy="1828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97280" cy="182880"/>
            </a:xfrm>
            <a:custGeom>
              <a:avLst/>
              <a:gdLst/>
              <a:ahLst/>
              <a:cxnLst/>
              <a:rect r="r" b="b" t="t" l="l"/>
              <a:pathLst>
                <a:path h="1828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9525"/>
              <a:ext cx="1097280" cy="192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Oracle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346811" y="6842379"/>
            <a:ext cx="2487930" cy="115062"/>
            <a:chOff x="0" y="0"/>
            <a:chExt cx="3317240" cy="15341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2700" y="12700"/>
              <a:ext cx="3291840" cy="128016"/>
            </a:xfrm>
            <a:custGeom>
              <a:avLst/>
              <a:gdLst/>
              <a:ahLst/>
              <a:cxnLst/>
              <a:rect r="r" b="b" t="t" l="l"/>
              <a:pathLst>
                <a:path h="128016" w="3291840">
                  <a:moveTo>
                    <a:pt x="0" y="21336"/>
                  </a:moveTo>
                  <a:cubicBezTo>
                    <a:pt x="0" y="9525"/>
                    <a:pt x="11303" y="0"/>
                    <a:pt x="25400" y="0"/>
                  </a:cubicBezTo>
                  <a:lnTo>
                    <a:pt x="3266440" y="0"/>
                  </a:lnTo>
                  <a:cubicBezTo>
                    <a:pt x="3280410" y="0"/>
                    <a:pt x="3291840" y="9525"/>
                    <a:pt x="3291840" y="21336"/>
                  </a:cubicBezTo>
                  <a:lnTo>
                    <a:pt x="3291840" y="106680"/>
                  </a:lnTo>
                  <a:cubicBezTo>
                    <a:pt x="3291840" y="118491"/>
                    <a:pt x="3280537" y="128016"/>
                    <a:pt x="3266440" y="128016"/>
                  </a:cubicBezTo>
                  <a:lnTo>
                    <a:pt x="25400" y="128016"/>
                  </a:lnTo>
                  <a:cubicBezTo>
                    <a:pt x="11430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317240" cy="153416"/>
            </a:xfrm>
            <a:custGeom>
              <a:avLst/>
              <a:gdLst/>
              <a:ahLst/>
              <a:cxnLst/>
              <a:rect r="r" b="b" t="t" l="l"/>
              <a:pathLst>
                <a:path h="153416" w="3317240">
                  <a:moveTo>
                    <a:pt x="0" y="34036"/>
                  </a:moveTo>
                  <a:cubicBezTo>
                    <a:pt x="0" y="13208"/>
                    <a:pt x="19177" y="0"/>
                    <a:pt x="38100" y="0"/>
                  </a:cubicBezTo>
                  <a:lnTo>
                    <a:pt x="3279140" y="0"/>
                  </a:lnTo>
                  <a:lnTo>
                    <a:pt x="3279140" y="12700"/>
                  </a:lnTo>
                  <a:lnTo>
                    <a:pt x="3279140" y="0"/>
                  </a:lnTo>
                  <a:cubicBezTo>
                    <a:pt x="3298063" y="0"/>
                    <a:pt x="3317240" y="13208"/>
                    <a:pt x="3317240" y="34036"/>
                  </a:cubicBezTo>
                  <a:lnTo>
                    <a:pt x="3304540" y="34036"/>
                  </a:lnTo>
                  <a:lnTo>
                    <a:pt x="3317240" y="34036"/>
                  </a:lnTo>
                  <a:lnTo>
                    <a:pt x="3317240" y="119380"/>
                  </a:lnTo>
                  <a:lnTo>
                    <a:pt x="3304540" y="119380"/>
                  </a:lnTo>
                  <a:lnTo>
                    <a:pt x="3317240" y="119380"/>
                  </a:lnTo>
                  <a:cubicBezTo>
                    <a:pt x="3317240" y="140208"/>
                    <a:pt x="3298063" y="153416"/>
                    <a:pt x="3279140" y="153416"/>
                  </a:cubicBezTo>
                  <a:lnTo>
                    <a:pt x="3279140" y="140716"/>
                  </a:lnTo>
                  <a:lnTo>
                    <a:pt x="3279140" y="153416"/>
                  </a:lnTo>
                  <a:lnTo>
                    <a:pt x="38100" y="153416"/>
                  </a:lnTo>
                  <a:lnTo>
                    <a:pt x="38100" y="140716"/>
                  </a:lnTo>
                  <a:lnTo>
                    <a:pt x="38100" y="153416"/>
                  </a:lnTo>
                  <a:cubicBezTo>
                    <a:pt x="19177" y="153416"/>
                    <a:pt x="0" y="140208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8100" y="128016"/>
                  </a:cubicBezTo>
                  <a:lnTo>
                    <a:pt x="3279140" y="128016"/>
                  </a:lnTo>
                  <a:cubicBezTo>
                    <a:pt x="3288284" y="128016"/>
                    <a:pt x="3291840" y="122174"/>
                    <a:pt x="3291840" y="119380"/>
                  </a:cubicBezTo>
                  <a:lnTo>
                    <a:pt x="3291840" y="34036"/>
                  </a:lnTo>
                  <a:cubicBezTo>
                    <a:pt x="3291840" y="31242"/>
                    <a:pt x="3288284" y="25400"/>
                    <a:pt x="3279140" y="25400"/>
                  </a:cubicBezTo>
                  <a:lnTo>
                    <a:pt x="38100" y="25400"/>
                  </a:lnTo>
                  <a:lnTo>
                    <a:pt x="38100" y="12700"/>
                  </a:lnTo>
                  <a:lnTo>
                    <a:pt x="38100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3346811" y="6842379"/>
            <a:ext cx="1966722" cy="115062"/>
            <a:chOff x="0" y="0"/>
            <a:chExt cx="2622296" cy="15341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2700" y="12700"/>
              <a:ext cx="2596896" cy="128016"/>
            </a:xfrm>
            <a:custGeom>
              <a:avLst/>
              <a:gdLst/>
              <a:ahLst/>
              <a:cxnLst/>
              <a:rect r="r" b="b" t="t" l="l"/>
              <a:pathLst>
                <a:path h="128016" w="2596896">
                  <a:moveTo>
                    <a:pt x="0" y="21336"/>
                  </a:moveTo>
                  <a:cubicBezTo>
                    <a:pt x="0" y="9525"/>
                    <a:pt x="11303" y="0"/>
                    <a:pt x="25273" y="0"/>
                  </a:cubicBezTo>
                  <a:lnTo>
                    <a:pt x="2571623" y="0"/>
                  </a:lnTo>
                  <a:cubicBezTo>
                    <a:pt x="2585593" y="0"/>
                    <a:pt x="2596896" y="9525"/>
                    <a:pt x="2596896" y="21336"/>
                  </a:cubicBezTo>
                  <a:lnTo>
                    <a:pt x="2596896" y="106680"/>
                  </a:lnTo>
                  <a:cubicBezTo>
                    <a:pt x="2596896" y="118491"/>
                    <a:pt x="2585593" y="128016"/>
                    <a:pt x="2571623" y="128016"/>
                  </a:cubicBezTo>
                  <a:lnTo>
                    <a:pt x="25273" y="128016"/>
                  </a:lnTo>
                  <a:cubicBezTo>
                    <a:pt x="11303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6D9BCB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622296" cy="153416"/>
            </a:xfrm>
            <a:custGeom>
              <a:avLst/>
              <a:gdLst/>
              <a:ahLst/>
              <a:cxnLst/>
              <a:rect r="r" b="b" t="t" l="l"/>
              <a:pathLst>
                <a:path h="153416" w="2622296">
                  <a:moveTo>
                    <a:pt x="0" y="34036"/>
                  </a:moveTo>
                  <a:cubicBezTo>
                    <a:pt x="0" y="13335"/>
                    <a:pt x="19177" y="0"/>
                    <a:pt x="37973" y="0"/>
                  </a:cubicBezTo>
                  <a:lnTo>
                    <a:pt x="2584323" y="0"/>
                  </a:lnTo>
                  <a:lnTo>
                    <a:pt x="2584323" y="12700"/>
                  </a:lnTo>
                  <a:lnTo>
                    <a:pt x="2584323" y="0"/>
                  </a:lnTo>
                  <a:cubicBezTo>
                    <a:pt x="2603246" y="0"/>
                    <a:pt x="2622296" y="13335"/>
                    <a:pt x="2622296" y="34036"/>
                  </a:cubicBezTo>
                  <a:lnTo>
                    <a:pt x="2609596" y="34036"/>
                  </a:lnTo>
                  <a:lnTo>
                    <a:pt x="2622296" y="34036"/>
                  </a:lnTo>
                  <a:lnTo>
                    <a:pt x="2622296" y="119380"/>
                  </a:lnTo>
                  <a:lnTo>
                    <a:pt x="2609596" y="119380"/>
                  </a:lnTo>
                  <a:lnTo>
                    <a:pt x="2622296" y="119380"/>
                  </a:lnTo>
                  <a:cubicBezTo>
                    <a:pt x="2622296" y="140081"/>
                    <a:pt x="2603119" y="153416"/>
                    <a:pt x="2584323" y="153416"/>
                  </a:cubicBezTo>
                  <a:lnTo>
                    <a:pt x="2584323" y="140716"/>
                  </a:lnTo>
                  <a:lnTo>
                    <a:pt x="2584323" y="153416"/>
                  </a:lnTo>
                  <a:lnTo>
                    <a:pt x="37973" y="153416"/>
                  </a:lnTo>
                  <a:lnTo>
                    <a:pt x="37973" y="140716"/>
                  </a:lnTo>
                  <a:lnTo>
                    <a:pt x="37973" y="153416"/>
                  </a:lnTo>
                  <a:cubicBezTo>
                    <a:pt x="19177" y="153416"/>
                    <a:pt x="0" y="140081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7973" y="128016"/>
                  </a:cubicBezTo>
                  <a:lnTo>
                    <a:pt x="2584323" y="128016"/>
                  </a:lnTo>
                  <a:cubicBezTo>
                    <a:pt x="2593467" y="128016"/>
                    <a:pt x="2596896" y="122174"/>
                    <a:pt x="2596896" y="119380"/>
                  </a:cubicBezTo>
                  <a:lnTo>
                    <a:pt x="2596896" y="34036"/>
                  </a:lnTo>
                  <a:cubicBezTo>
                    <a:pt x="2596896" y="31242"/>
                    <a:pt x="2593340" y="25400"/>
                    <a:pt x="2584323" y="25400"/>
                  </a:cubicBezTo>
                  <a:lnTo>
                    <a:pt x="37973" y="25400"/>
                  </a:lnTo>
                  <a:lnTo>
                    <a:pt x="37973" y="12700"/>
                  </a:lnTo>
                  <a:lnTo>
                    <a:pt x="37973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6D9BCB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2437364" y="7277100"/>
            <a:ext cx="822960" cy="137160"/>
            <a:chOff x="0" y="0"/>
            <a:chExt cx="1097280" cy="18288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97280" cy="182880"/>
            </a:xfrm>
            <a:custGeom>
              <a:avLst/>
              <a:gdLst/>
              <a:ahLst/>
              <a:cxnLst/>
              <a:rect r="r" b="b" t="t" l="l"/>
              <a:pathLst>
                <a:path h="1828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82880"/>
                  </a:lnTo>
                  <a:lnTo>
                    <a:pt x="0" y="18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1097280" cy="192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Supply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346811" y="7295007"/>
            <a:ext cx="2487930" cy="115062"/>
            <a:chOff x="0" y="0"/>
            <a:chExt cx="3317240" cy="15341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2700" y="12700"/>
              <a:ext cx="3291840" cy="128016"/>
            </a:xfrm>
            <a:custGeom>
              <a:avLst/>
              <a:gdLst/>
              <a:ahLst/>
              <a:cxnLst/>
              <a:rect r="r" b="b" t="t" l="l"/>
              <a:pathLst>
                <a:path h="128016" w="3291840">
                  <a:moveTo>
                    <a:pt x="0" y="21336"/>
                  </a:moveTo>
                  <a:cubicBezTo>
                    <a:pt x="0" y="9525"/>
                    <a:pt x="11303" y="0"/>
                    <a:pt x="25400" y="0"/>
                  </a:cubicBezTo>
                  <a:lnTo>
                    <a:pt x="3266440" y="0"/>
                  </a:lnTo>
                  <a:cubicBezTo>
                    <a:pt x="3280410" y="0"/>
                    <a:pt x="3291840" y="9525"/>
                    <a:pt x="3291840" y="21336"/>
                  </a:cubicBezTo>
                  <a:lnTo>
                    <a:pt x="3291840" y="106680"/>
                  </a:lnTo>
                  <a:cubicBezTo>
                    <a:pt x="3291840" y="118491"/>
                    <a:pt x="3280537" y="128016"/>
                    <a:pt x="3266440" y="128016"/>
                  </a:cubicBezTo>
                  <a:lnTo>
                    <a:pt x="25400" y="128016"/>
                  </a:lnTo>
                  <a:cubicBezTo>
                    <a:pt x="11430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317240" cy="153416"/>
            </a:xfrm>
            <a:custGeom>
              <a:avLst/>
              <a:gdLst/>
              <a:ahLst/>
              <a:cxnLst/>
              <a:rect r="r" b="b" t="t" l="l"/>
              <a:pathLst>
                <a:path h="153416" w="3317240">
                  <a:moveTo>
                    <a:pt x="0" y="34036"/>
                  </a:moveTo>
                  <a:cubicBezTo>
                    <a:pt x="0" y="13208"/>
                    <a:pt x="19177" y="0"/>
                    <a:pt x="38100" y="0"/>
                  </a:cubicBezTo>
                  <a:lnTo>
                    <a:pt x="3279140" y="0"/>
                  </a:lnTo>
                  <a:lnTo>
                    <a:pt x="3279140" y="12700"/>
                  </a:lnTo>
                  <a:lnTo>
                    <a:pt x="3279140" y="0"/>
                  </a:lnTo>
                  <a:cubicBezTo>
                    <a:pt x="3298063" y="0"/>
                    <a:pt x="3317240" y="13208"/>
                    <a:pt x="3317240" y="34036"/>
                  </a:cubicBezTo>
                  <a:lnTo>
                    <a:pt x="3304540" y="34036"/>
                  </a:lnTo>
                  <a:lnTo>
                    <a:pt x="3317240" y="34036"/>
                  </a:lnTo>
                  <a:lnTo>
                    <a:pt x="3317240" y="119380"/>
                  </a:lnTo>
                  <a:lnTo>
                    <a:pt x="3304540" y="119380"/>
                  </a:lnTo>
                  <a:lnTo>
                    <a:pt x="3317240" y="119380"/>
                  </a:lnTo>
                  <a:cubicBezTo>
                    <a:pt x="3317240" y="140208"/>
                    <a:pt x="3298063" y="153416"/>
                    <a:pt x="3279140" y="153416"/>
                  </a:cubicBezTo>
                  <a:lnTo>
                    <a:pt x="3279140" y="140716"/>
                  </a:lnTo>
                  <a:lnTo>
                    <a:pt x="3279140" y="153416"/>
                  </a:lnTo>
                  <a:lnTo>
                    <a:pt x="38100" y="153416"/>
                  </a:lnTo>
                  <a:lnTo>
                    <a:pt x="38100" y="140716"/>
                  </a:lnTo>
                  <a:lnTo>
                    <a:pt x="38100" y="153416"/>
                  </a:lnTo>
                  <a:cubicBezTo>
                    <a:pt x="19177" y="153416"/>
                    <a:pt x="0" y="140208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8100" y="128016"/>
                  </a:cubicBezTo>
                  <a:lnTo>
                    <a:pt x="3279140" y="128016"/>
                  </a:lnTo>
                  <a:cubicBezTo>
                    <a:pt x="3288284" y="128016"/>
                    <a:pt x="3291840" y="122174"/>
                    <a:pt x="3291840" y="119380"/>
                  </a:cubicBezTo>
                  <a:lnTo>
                    <a:pt x="3291840" y="34036"/>
                  </a:lnTo>
                  <a:cubicBezTo>
                    <a:pt x="3291840" y="31242"/>
                    <a:pt x="3288284" y="25400"/>
                    <a:pt x="3279140" y="25400"/>
                  </a:cubicBezTo>
                  <a:lnTo>
                    <a:pt x="38100" y="25400"/>
                  </a:lnTo>
                  <a:lnTo>
                    <a:pt x="38100" y="12700"/>
                  </a:lnTo>
                  <a:lnTo>
                    <a:pt x="38100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3346811" y="7295007"/>
            <a:ext cx="2145030" cy="115062"/>
            <a:chOff x="0" y="0"/>
            <a:chExt cx="2860040" cy="153416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2700" y="12700"/>
              <a:ext cx="2834640" cy="128016"/>
            </a:xfrm>
            <a:custGeom>
              <a:avLst/>
              <a:gdLst/>
              <a:ahLst/>
              <a:cxnLst/>
              <a:rect r="r" b="b" t="t" l="l"/>
              <a:pathLst>
                <a:path h="128016" w="2834640">
                  <a:moveTo>
                    <a:pt x="0" y="21336"/>
                  </a:moveTo>
                  <a:cubicBezTo>
                    <a:pt x="0" y="9525"/>
                    <a:pt x="11303" y="0"/>
                    <a:pt x="25400" y="0"/>
                  </a:cubicBezTo>
                  <a:lnTo>
                    <a:pt x="2809240" y="0"/>
                  </a:lnTo>
                  <a:cubicBezTo>
                    <a:pt x="2823210" y="0"/>
                    <a:pt x="2834640" y="9525"/>
                    <a:pt x="2834640" y="21336"/>
                  </a:cubicBezTo>
                  <a:lnTo>
                    <a:pt x="2834640" y="106680"/>
                  </a:lnTo>
                  <a:cubicBezTo>
                    <a:pt x="2834640" y="118491"/>
                    <a:pt x="2823337" y="128016"/>
                    <a:pt x="2809240" y="128016"/>
                  </a:cubicBezTo>
                  <a:lnTo>
                    <a:pt x="25400" y="128016"/>
                  </a:lnTo>
                  <a:cubicBezTo>
                    <a:pt x="11430" y="128016"/>
                    <a:pt x="0" y="118491"/>
                    <a:pt x="0" y="106680"/>
                  </a:cubicBezTo>
                  <a:close/>
                </a:path>
              </a:pathLst>
            </a:custGeom>
            <a:solidFill>
              <a:srgbClr val="81C784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860040" cy="153416"/>
            </a:xfrm>
            <a:custGeom>
              <a:avLst/>
              <a:gdLst/>
              <a:ahLst/>
              <a:cxnLst/>
              <a:rect r="r" b="b" t="t" l="l"/>
              <a:pathLst>
                <a:path h="153416" w="2860040">
                  <a:moveTo>
                    <a:pt x="0" y="34036"/>
                  </a:moveTo>
                  <a:cubicBezTo>
                    <a:pt x="0" y="13335"/>
                    <a:pt x="19177" y="0"/>
                    <a:pt x="38100" y="0"/>
                  </a:cubicBezTo>
                  <a:lnTo>
                    <a:pt x="2821940" y="0"/>
                  </a:lnTo>
                  <a:lnTo>
                    <a:pt x="2821940" y="12700"/>
                  </a:lnTo>
                  <a:lnTo>
                    <a:pt x="2821940" y="0"/>
                  </a:lnTo>
                  <a:cubicBezTo>
                    <a:pt x="2840863" y="0"/>
                    <a:pt x="2860040" y="13335"/>
                    <a:pt x="2860040" y="34036"/>
                  </a:cubicBezTo>
                  <a:lnTo>
                    <a:pt x="2847340" y="34036"/>
                  </a:lnTo>
                  <a:lnTo>
                    <a:pt x="2860040" y="34036"/>
                  </a:lnTo>
                  <a:lnTo>
                    <a:pt x="2860040" y="119380"/>
                  </a:lnTo>
                  <a:lnTo>
                    <a:pt x="2847340" y="119380"/>
                  </a:lnTo>
                  <a:lnTo>
                    <a:pt x="2860040" y="119380"/>
                  </a:lnTo>
                  <a:cubicBezTo>
                    <a:pt x="2860040" y="140081"/>
                    <a:pt x="2840863" y="153416"/>
                    <a:pt x="2821940" y="153416"/>
                  </a:cubicBezTo>
                  <a:lnTo>
                    <a:pt x="2821940" y="140716"/>
                  </a:lnTo>
                  <a:lnTo>
                    <a:pt x="2821940" y="153416"/>
                  </a:lnTo>
                  <a:lnTo>
                    <a:pt x="38100" y="153416"/>
                  </a:lnTo>
                  <a:lnTo>
                    <a:pt x="38100" y="140716"/>
                  </a:lnTo>
                  <a:lnTo>
                    <a:pt x="38100" y="153416"/>
                  </a:lnTo>
                  <a:cubicBezTo>
                    <a:pt x="19177" y="153416"/>
                    <a:pt x="0" y="140081"/>
                    <a:pt x="0" y="119380"/>
                  </a:cubicBezTo>
                  <a:lnTo>
                    <a:pt x="0" y="34036"/>
                  </a:lnTo>
                  <a:lnTo>
                    <a:pt x="12700" y="34036"/>
                  </a:lnTo>
                  <a:lnTo>
                    <a:pt x="0" y="34036"/>
                  </a:lnTo>
                  <a:moveTo>
                    <a:pt x="25400" y="34036"/>
                  </a:moveTo>
                  <a:lnTo>
                    <a:pt x="25400" y="119380"/>
                  </a:lnTo>
                  <a:lnTo>
                    <a:pt x="12700" y="119380"/>
                  </a:lnTo>
                  <a:lnTo>
                    <a:pt x="25400" y="119380"/>
                  </a:lnTo>
                  <a:cubicBezTo>
                    <a:pt x="25400" y="122174"/>
                    <a:pt x="28956" y="128016"/>
                    <a:pt x="38100" y="128016"/>
                  </a:cubicBezTo>
                  <a:lnTo>
                    <a:pt x="2821940" y="128016"/>
                  </a:lnTo>
                  <a:cubicBezTo>
                    <a:pt x="2831084" y="128016"/>
                    <a:pt x="2834640" y="122174"/>
                    <a:pt x="2834640" y="119380"/>
                  </a:cubicBezTo>
                  <a:lnTo>
                    <a:pt x="2834640" y="34036"/>
                  </a:lnTo>
                  <a:cubicBezTo>
                    <a:pt x="2834640" y="31242"/>
                    <a:pt x="2831084" y="25400"/>
                    <a:pt x="2821940" y="25400"/>
                  </a:cubicBezTo>
                  <a:lnTo>
                    <a:pt x="38100" y="25400"/>
                  </a:lnTo>
                  <a:lnTo>
                    <a:pt x="38100" y="12700"/>
                  </a:lnTo>
                  <a:lnTo>
                    <a:pt x="38100" y="25400"/>
                  </a:lnTo>
                  <a:cubicBezTo>
                    <a:pt x="28956" y="25400"/>
                    <a:pt x="25400" y="31242"/>
                    <a:pt x="25400" y="34036"/>
                  </a:cubicBezTo>
                  <a:close/>
                </a:path>
              </a:pathLst>
            </a:custGeom>
            <a:solidFill>
              <a:srgbClr val="81C784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124712" y="9162288"/>
            <a:ext cx="11932920" cy="463101"/>
            <a:chOff x="0" y="0"/>
            <a:chExt cx="15910560" cy="61746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5910561" cy="617469"/>
            </a:xfrm>
            <a:custGeom>
              <a:avLst/>
              <a:gdLst/>
              <a:ahLst/>
              <a:cxnLst/>
              <a:rect r="r" b="b" t="t" l="l"/>
              <a:pathLst>
                <a:path h="617469" w="15910561">
                  <a:moveTo>
                    <a:pt x="0" y="0"/>
                  </a:moveTo>
                  <a:lnTo>
                    <a:pt x="15910561" y="0"/>
                  </a:lnTo>
                  <a:lnTo>
                    <a:pt x="15910561" y="617469"/>
                  </a:lnTo>
                  <a:lnTo>
                    <a:pt x="0" y="6174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422" r="0" b="-428734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0"/>
              <a:ext cx="15910560" cy="61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9"/>
                </a:lnSpc>
              </a:pPr>
              <a:r>
                <a:rPr lang="en-US" sz="2474" b="true">
                  <a:solidFill>
                    <a:srgbClr val="D4A01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Managers need one actionable score, not 15 tabs stitched together mentally.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49675" y="100203"/>
            <a:ext cx="1253490" cy="1253490"/>
            <a:chOff x="0" y="0"/>
            <a:chExt cx="1671320" cy="1671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A7C7E7">
                <a:alpha val="745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16019" y="566547"/>
            <a:ext cx="348234" cy="348234"/>
            <a:chOff x="0" y="0"/>
            <a:chExt cx="464312" cy="4643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3435" y="511683"/>
            <a:ext cx="1322070" cy="403098"/>
            <a:chOff x="0" y="0"/>
            <a:chExt cx="1762760" cy="537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2700"/>
              <a:ext cx="1737360" cy="512064"/>
            </a:xfrm>
            <a:custGeom>
              <a:avLst/>
              <a:gdLst/>
              <a:ahLst/>
              <a:cxnLst/>
              <a:rect r="r" b="b" t="t" l="l"/>
              <a:pathLst>
                <a:path h="512064" w="1737360">
                  <a:moveTo>
                    <a:pt x="0" y="146304"/>
                  </a:moveTo>
                  <a:cubicBezTo>
                    <a:pt x="0" y="65532"/>
                    <a:pt x="67818" y="0"/>
                    <a:pt x="151384" y="0"/>
                  </a:cubicBezTo>
                  <a:lnTo>
                    <a:pt x="1585976" y="0"/>
                  </a:lnTo>
                  <a:cubicBezTo>
                    <a:pt x="1669542" y="0"/>
                    <a:pt x="1737360" y="65532"/>
                    <a:pt x="1737360" y="146304"/>
                  </a:cubicBezTo>
                  <a:lnTo>
                    <a:pt x="1737360" y="365760"/>
                  </a:lnTo>
                  <a:cubicBezTo>
                    <a:pt x="1737360" y="446532"/>
                    <a:pt x="1669542" y="512064"/>
                    <a:pt x="1585976" y="512064"/>
                  </a:cubicBezTo>
                  <a:lnTo>
                    <a:pt x="151384" y="512064"/>
                  </a:lnTo>
                  <a:cubicBezTo>
                    <a:pt x="67818" y="512064"/>
                    <a:pt x="0" y="446532"/>
                    <a:pt x="0" y="365760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2760" cy="537464"/>
            </a:xfrm>
            <a:custGeom>
              <a:avLst/>
              <a:gdLst/>
              <a:ahLst/>
              <a:cxnLst/>
              <a:rect r="r" b="b" t="t" l="l"/>
              <a:pathLst>
                <a:path h="537464" w="1762760">
                  <a:moveTo>
                    <a:pt x="0" y="159004"/>
                  </a:moveTo>
                  <a:cubicBezTo>
                    <a:pt x="0" y="70739"/>
                    <a:pt x="73914" y="0"/>
                    <a:pt x="164084" y="0"/>
                  </a:cubicBezTo>
                  <a:lnTo>
                    <a:pt x="1598676" y="0"/>
                  </a:lnTo>
                  <a:lnTo>
                    <a:pt x="1598676" y="12700"/>
                  </a:lnTo>
                  <a:lnTo>
                    <a:pt x="1598676" y="0"/>
                  </a:lnTo>
                  <a:cubicBezTo>
                    <a:pt x="1688846" y="0"/>
                    <a:pt x="1762760" y="70739"/>
                    <a:pt x="1762760" y="159004"/>
                  </a:cubicBezTo>
                  <a:lnTo>
                    <a:pt x="1750060" y="159004"/>
                  </a:lnTo>
                  <a:lnTo>
                    <a:pt x="1762760" y="159004"/>
                  </a:lnTo>
                  <a:lnTo>
                    <a:pt x="1762760" y="378460"/>
                  </a:lnTo>
                  <a:lnTo>
                    <a:pt x="1750060" y="378460"/>
                  </a:lnTo>
                  <a:lnTo>
                    <a:pt x="1762760" y="378460"/>
                  </a:lnTo>
                  <a:cubicBezTo>
                    <a:pt x="1762760" y="466725"/>
                    <a:pt x="1688846" y="537464"/>
                    <a:pt x="1598676" y="537464"/>
                  </a:cubicBezTo>
                  <a:lnTo>
                    <a:pt x="1598676" y="524764"/>
                  </a:lnTo>
                  <a:lnTo>
                    <a:pt x="1598676" y="537464"/>
                  </a:lnTo>
                  <a:lnTo>
                    <a:pt x="164084" y="537464"/>
                  </a:lnTo>
                  <a:lnTo>
                    <a:pt x="164084" y="524764"/>
                  </a:lnTo>
                  <a:lnTo>
                    <a:pt x="164084" y="537464"/>
                  </a:lnTo>
                  <a:cubicBezTo>
                    <a:pt x="73914" y="537464"/>
                    <a:pt x="0" y="466725"/>
                    <a:pt x="0" y="378460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378460"/>
                  </a:lnTo>
                  <a:lnTo>
                    <a:pt x="12700" y="378460"/>
                  </a:lnTo>
                  <a:lnTo>
                    <a:pt x="25400" y="378460"/>
                  </a:lnTo>
                  <a:cubicBezTo>
                    <a:pt x="25400" y="451866"/>
                    <a:pt x="87122" y="512064"/>
                    <a:pt x="164084" y="512064"/>
                  </a:cubicBezTo>
                  <a:lnTo>
                    <a:pt x="1598676" y="512064"/>
                  </a:lnTo>
                  <a:cubicBezTo>
                    <a:pt x="1675638" y="512064"/>
                    <a:pt x="1737360" y="451866"/>
                    <a:pt x="1737360" y="378460"/>
                  </a:cubicBezTo>
                  <a:lnTo>
                    <a:pt x="1737360" y="159004"/>
                  </a:lnTo>
                  <a:cubicBezTo>
                    <a:pt x="1737360" y="85598"/>
                    <a:pt x="1675638" y="25400"/>
                    <a:pt x="1598676" y="25400"/>
                  </a:cubicBezTo>
                  <a:lnTo>
                    <a:pt x="164084" y="25400"/>
                  </a:lnTo>
                  <a:lnTo>
                    <a:pt x="164084" y="12700"/>
                  </a:lnTo>
                  <a:lnTo>
                    <a:pt x="164084" y="25400"/>
                  </a:lnTo>
                  <a:cubicBezTo>
                    <a:pt x="87122" y="25400"/>
                    <a:pt x="25400" y="85598"/>
                    <a:pt x="25400" y="159004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1268" y="582930"/>
            <a:ext cx="960120" cy="219456"/>
            <a:chOff x="0" y="0"/>
            <a:chExt cx="1280160" cy="2926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0" cy="292608"/>
            </a:xfrm>
            <a:custGeom>
              <a:avLst/>
              <a:gdLst/>
              <a:ahLst/>
              <a:cxnLst/>
              <a:rect r="r" b="b" t="t" l="l"/>
              <a:pathLst>
                <a:path h="292608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2801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PRISM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39260" y="9601200"/>
            <a:ext cx="617220" cy="274320"/>
            <a:chOff x="0" y="0"/>
            <a:chExt cx="822960" cy="365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2960" cy="365760"/>
            </a:xfrm>
            <a:custGeom>
              <a:avLst/>
              <a:gdLst/>
              <a:ahLst/>
              <a:cxnLst/>
              <a:rect r="r" b="b" t="t" l="l"/>
              <a:pathLst>
                <a:path h="3657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822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05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8027" y="2486787"/>
            <a:ext cx="4339590" cy="1637538"/>
            <a:chOff x="0" y="0"/>
            <a:chExt cx="5786120" cy="21833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5760720" cy="2157984"/>
            </a:xfrm>
            <a:custGeom>
              <a:avLst/>
              <a:gdLst/>
              <a:ahLst/>
              <a:cxnLst/>
              <a:rect r="r" b="b" t="t" l="l"/>
              <a:pathLst>
                <a:path h="2157984" w="5760720">
                  <a:moveTo>
                    <a:pt x="0" y="146304"/>
                  </a:moveTo>
                  <a:cubicBezTo>
                    <a:pt x="0" y="65532"/>
                    <a:pt x="66040" y="0"/>
                    <a:pt x="147447" y="0"/>
                  </a:cubicBezTo>
                  <a:lnTo>
                    <a:pt x="5613273" y="0"/>
                  </a:lnTo>
                  <a:cubicBezTo>
                    <a:pt x="5694680" y="0"/>
                    <a:pt x="5760720" y="65532"/>
                    <a:pt x="5760720" y="146304"/>
                  </a:cubicBezTo>
                  <a:lnTo>
                    <a:pt x="5760720" y="2011680"/>
                  </a:lnTo>
                  <a:cubicBezTo>
                    <a:pt x="5760720" y="2092452"/>
                    <a:pt x="5694680" y="2157984"/>
                    <a:pt x="5613273" y="2157984"/>
                  </a:cubicBezTo>
                  <a:lnTo>
                    <a:pt x="147447" y="2157984"/>
                  </a:lnTo>
                  <a:cubicBezTo>
                    <a:pt x="66040" y="2157984"/>
                    <a:pt x="0" y="2092452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86120" cy="2183384"/>
            </a:xfrm>
            <a:custGeom>
              <a:avLst/>
              <a:gdLst/>
              <a:ahLst/>
              <a:cxnLst/>
              <a:rect r="r" b="b" t="t" l="l"/>
              <a:pathLst>
                <a:path h="2183384" w="5786120">
                  <a:moveTo>
                    <a:pt x="0" y="159004"/>
                  </a:moveTo>
                  <a:cubicBezTo>
                    <a:pt x="0" y="71120"/>
                    <a:pt x="71755" y="0"/>
                    <a:pt x="160147" y="0"/>
                  </a:cubicBezTo>
                  <a:lnTo>
                    <a:pt x="5625973" y="0"/>
                  </a:lnTo>
                  <a:lnTo>
                    <a:pt x="5625973" y="12700"/>
                  </a:lnTo>
                  <a:lnTo>
                    <a:pt x="5625973" y="0"/>
                  </a:lnTo>
                  <a:cubicBezTo>
                    <a:pt x="5714238" y="0"/>
                    <a:pt x="5786120" y="71120"/>
                    <a:pt x="5786120" y="159004"/>
                  </a:cubicBezTo>
                  <a:lnTo>
                    <a:pt x="5773420" y="159004"/>
                  </a:lnTo>
                  <a:lnTo>
                    <a:pt x="5786120" y="159004"/>
                  </a:lnTo>
                  <a:lnTo>
                    <a:pt x="5786120" y="2024380"/>
                  </a:lnTo>
                  <a:lnTo>
                    <a:pt x="5773420" y="2024380"/>
                  </a:lnTo>
                  <a:lnTo>
                    <a:pt x="5786120" y="2024380"/>
                  </a:lnTo>
                  <a:cubicBezTo>
                    <a:pt x="5786120" y="2112264"/>
                    <a:pt x="5714365" y="2183384"/>
                    <a:pt x="5625973" y="2183384"/>
                  </a:cubicBezTo>
                  <a:lnTo>
                    <a:pt x="5625973" y="2170684"/>
                  </a:lnTo>
                  <a:lnTo>
                    <a:pt x="5625973" y="2183384"/>
                  </a:lnTo>
                  <a:lnTo>
                    <a:pt x="160147" y="2183384"/>
                  </a:lnTo>
                  <a:lnTo>
                    <a:pt x="160147" y="2170684"/>
                  </a:lnTo>
                  <a:lnTo>
                    <a:pt x="160147" y="2183384"/>
                  </a:lnTo>
                  <a:cubicBezTo>
                    <a:pt x="71755" y="2183384"/>
                    <a:pt x="0" y="2112264"/>
                    <a:pt x="0" y="2024380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024380"/>
                  </a:lnTo>
                  <a:lnTo>
                    <a:pt x="12700" y="2024380"/>
                  </a:lnTo>
                  <a:lnTo>
                    <a:pt x="25400" y="2024380"/>
                  </a:lnTo>
                  <a:cubicBezTo>
                    <a:pt x="25400" y="2098040"/>
                    <a:pt x="85598" y="2157984"/>
                    <a:pt x="160147" y="2157984"/>
                  </a:cubicBezTo>
                  <a:lnTo>
                    <a:pt x="5625973" y="2157984"/>
                  </a:lnTo>
                  <a:cubicBezTo>
                    <a:pt x="5700395" y="2157984"/>
                    <a:pt x="5760720" y="2098040"/>
                    <a:pt x="5760720" y="2024380"/>
                  </a:cubicBezTo>
                  <a:lnTo>
                    <a:pt x="5760720" y="159004"/>
                  </a:lnTo>
                  <a:cubicBezTo>
                    <a:pt x="5760720" y="85344"/>
                    <a:pt x="5700522" y="25400"/>
                    <a:pt x="5625973" y="25400"/>
                  </a:cubicBezTo>
                  <a:lnTo>
                    <a:pt x="160147" y="25400"/>
                  </a:lnTo>
                  <a:lnTo>
                    <a:pt x="160147" y="12700"/>
                  </a:lnTo>
                  <a:lnTo>
                    <a:pt x="160147" y="25400"/>
                  </a:lnTo>
                  <a:cubicBezTo>
                    <a:pt x="85598" y="25400"/>
                    <a:pt x="25400" y="85344"/>
                    <a:pt x="25400" y="15900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24915" y="2788539"/>
            <a:ext cx="238506" cy="787146"/>
            <a:chOff x="0" y="0"/>
            <a:chExt cx="318008" cy="10495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292608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">
                  <a:moveTo>
                    <a:pt x="0" y="51689"/>
                  </a:moveTo>
                  <a:cubicBezTo>
                    <a:pt x="0" y="23114"/>
                    <a:pt x="21844" y="0"/>
                    <a:pt x="48768" y="0"/>
                  </a:cubicBezTo>
                  <a:lnTo>
                    <a:pt x="243840" y="0"/>
                  </a:lnTo>
                  <a:cubicBezTo>
                    <a:pt x="270764" y="0"/>
                    <a:pt x="292608" y="23114"/>
                    <a:pt x="292608" y="51689"/>
                  </a:cubicBezTo>
                  <a:lnTo>
                    <a:pt x="292608" y="972439"/>
                  </a:lnTo>
                  <a:cubicBezTo>
                    <a:pt x="292608" y="1001014"/>
                    <a:pt x="270764" y="1024128"/>
                    <a:pt x="243840" y="1024128"/>
                  </a:cubicBezTo>
                  <a:lnTo>
                    <a:pt x="48768" y="1024128"/>
                  </a:lnTo>
                  <a:cubicBezTo>
                    <a:pt x="21844" y="1024128"/>
                    <a:pt x="0" y="1001014"/>
                    <a:pt x="0" y="972439"/>
                  </a:cubicBezTo>
                  <a:close/>
                </a:path>
              </a:pathLst>
            </a:custGeom>
            <a:solidFill>
              <a:srgbClr val="6D9BCB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8008" cy="1049528"/>
            </a:xfrm>
            <a:custGeom>
              <a:avLst/>
              <a:gdLst/>
              <a:ahLst/>
              <a:cxnLst/>
              <a:rect r="r" b="b" t="t" l="l"/>
              <a:pathLst>
                <a:path h="1049528" w="318008">
                  <a:moveTo>
                    <a:pt x="0" y="64389"/>
                  </a:moveTo>
                  <a:cubicBezTo>
                    <a:pt x="0" y="29591"/>
                    <a:pt x="26797" y="0"/>
                    <a:pt x="61468" y="0"/>
                  </a:cubicBezTo>
                  <a:lnTo>
                    <a:pt x="256540" y="0"/>
                  </a:lnTo>
                  <a:lnTo>
                    <a:pt x="256540" y="12700"/>
                  </a:lnTo>
                  <a:lnTo>
                    <a:pt x="256540" y="0"/>
                  </a:lnTo>
                  <a:cubicBezTo>
                    <a:pt x="291211" y="0"/>
                    <a:pt x="318008" y="29591"/>
                    <a:pt x="318008" y="64389"/>
                  </a:cubicBezTo>
                  <a:lnTo>
                    <a:pt x="305308" y="64389"/>
                  </a:lnTo>
                  <a:lnTo>
                    <a:pt x="318008" y="64389"/>
                  </a:lnTo>
                  <a:lnTo>
                    <a:pt x="318008" y="985139"/>
                  </a:lnTo>
                  <a:lnTo>
                    <a:pt x="305308" y="985139"/>
                  </a:lnTo>
                  <a:lnTo>
                    <a:pt x="318008" y="985139"/>
                  </a:lnTo>
                  <a:cubicBezTo>
                    <a:pt x="318008" y="1020064"/>
                    <a:pt x="291211" y="1049528"/>
                    <a:pt x="256540" y="1049528"/>
                  </a:cubicBezTo>
                  <a:lnTo>
                    <a:pt x="256540" y="1036828"/>
                  </a:lnTo>
                  <a:lnTo>
                    <a:pt x="256540" y="1049528"/>
                  </a:lnTo>
                  <a:lnTo>
                    <a:pt x="61468" y="1049528"/>
                  </a:lnTo>
                  <a:lnTo>
                    <a:pt x="61468" y="1036828"/>
                  </a:lnTo>
                  <a:lnTo>
                    <a:pt x="61468" y="1049528"/>
                  </a:lnTo>
                  <a:cubicBezTo>
                    <a:pt x="26797" y="1049528"/>
                    <a:pt x="0" y="1019937"/>
                    <a:pt x="0" y="985139"/>
                  </a:cubicBezTo>
                  <a:lnTo>
                    <a:pt x="0" y="64389"/>
                  </a:lnTo>
                  <a:lnTo>
                    <a:pt x="12700" y="64389"/>
                  </a:lnTo>
                  <a:lnTo>
                    <a:pt x="0" y="64389"/>
                  </a:lnTo>
                  <a:moveTo>
                    <a:pt x="25400" y="64389"/>
                  </a:moveTo>
                  <a:lnTo>
                    <a:pt x="25400" y="985139"/>
                  </a:lnTo>
                  <a:lnTo>
                    <a:pt x="12700" y="985139"/>
                  </a:lnTo>
                  <a:lnTo>
                    <a:pt x="25400" y="985139"/>
                  </a:lnTo>
                  <a:cubicBezTo>
                    <a:pt x="25400" y="1007364"/>
                    <a:pt x="42291" y="1024128"/>
                    <a:pt x="61468" y="1024128"/>
                  </a:cubicBezTo>
                  <a:lnTo>
                    <a:pt x="256540" y="1024128"/>
                  </a:lnTo>
                  <a:cubicBezTo>
                    <a:pt x="275717" y="1024128"/>
                    <a:pt x="292608" y="1007364"/>
                    <a:pt x="292608" y="985139"/>
                  </a:cubicBezTo>
                  <a:lnTo>
                    <a:pt x="292608" y="64389"/>
                  </a:lnTo>
                  <a:cubicBezTo>
                    <a:pt x="292608" y="42164"/>
                    <a:pt x="275717" y="25400"/>
                    <a:pt x="256540" y="25400"/>
                  </a:cubicBezTo>
                  <a:lnTo>
                    <a:pt x="61468" y="25400"/>
                  </a:lnTo>
                  <a:lnTo>
                    <a:pt x="61468" y="12700"/>
                  </a:lnTo>
                  <a:lnTo>
                    <a:pt x="61468" y="25400"/>
                  </a:lnTo>
                  <a:cubicBezTo>
                    <a:pt x="42291" y="25400"/>
                    <a:pt x="25400" y="42164"/>
                    <a:pt x="25400" y="64389"/>
                  </a:cubicBezTo>
                  <a:close/>
                </a:path>
              </a:pathLst>
            </a:custGeom>
            <a:solidFill>
              <a:srgbClr val="6D9BC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2743200"/>
            <a:ext cx="2194560" cy="219456"/>
            <a:chOff x="0" y="0"/>
            <a:chExt cx="2926080" cy="2926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80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92608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Liquidity Resilience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114800" y="2743200"/>
            <a:ext cx="685800" cy="219456"/>
            <a:chOff x="0" y="0"/>
            <a:chExt cx="914400" cy="2926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292608"/>
            </a:xfrm>
            <a:custGeom>
              <a:avLst/>
              <a:gdLst/>
              <a:ahLst/>
              <a:cxnLst/>
              <a:rect r="r" b="b" t="t" l="l"/>
              <a:pathLst>
                <a:path h="29260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91440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D4A01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23%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45920" y="3154680"/>
            <a:ext cx="2948940" cy="466344"/>
            <a:chOff x="0" y="0"/>
            <a:chExt cx="3931920" cy="6217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31920" cy="621792"/>
            </a:xfrm>
            <a:custGeom>
              <a:avLst/>
              <a:gdLst/>
              <a:ahLst/>
              <a:cxnLst/>
              <a:rect r="r" b="b" t="t" l="l"/>
              <a:pathLst>
                <a:path h="62179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14" r="0" b="-7321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93192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sz="138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TVL trend, bridge flows, slippage simulation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8027" y="4585335"/>
            <a:ext cx="4339590" cy="1637538"/>
            <a:chOff x="0" y="0"/>
            <a:chExt cx="5786120" cy="21833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00" y="12700"/>
              <a:ext cx="5760720" cy="2157984"/>
            </a:xfrm>
            <a:custGeom>
              <a:avLst/>
              <a:gdLst/>
              <a:ahLst/>
              <a:cxnLst/>
              <a:rect r="r" b="b" t="t" l="l"/>
              <a:pathLst>
                <a:path h="2157984" w="5760720">
                  <a:moveTo>
                    <a:pt x="0" y="146304"/>
                  </a:moveTo>
                  <a:cubicBezTo>
                    <a:pt x="0" y="65532"/>
                    <a:pt x="66040" y="0"/>
                    <a:pt x="147447" y="0"/>
                  </a:cubicBezTo>
                  <a:lnTo>
                    <a:pt x="5613273" y="0"/>
                  </a:lnTo>
                  <a:cubicBezTo>
                    <a:pt x="5694680" y="0"/>
                    <a:pt x="5760720" y="65532"/>
                    <a:pt x="5760720" y="146304"/>
                  </a:cubicBezTo>
                  <a:lnTo>
                    <a:pt x="5760720" y="2011680"/>
                  </a:lnTo>
                  <a:cubicBezTo>
                    <a:pt x="5760720" y="2092452"/>
                    <a:pt x="5694680" y="2157984"/>
                    <a:pt x="5613273" y="2157984"/>
                  </a:cubicBezTo>
                  <a:lnTo>
                    <a:pt x="147447" y="2157984"/>
                  </a:lnTo>
                  <a:cubicBezTo>
                    <a:pt x="66040" y="2157984"/>
                    <a:pt x="0" y="2092452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86120" cy="2183384"/>
            </a:xfrm>
            <a:custGeom>
              <a:avLst/>
              <a:gdLst/>
              <a:ahLst/>
              <a:cxnLst/>
              <a:rect r="r" b="b" t="t" l="l"/>
              <a:pathLst>
                <a:path h="2183384" w="5786120">
                  <a:moveTo>
                    <a:pt x="0" y="159004"/>
                  </a:moveTo>
                  <a:cubicBezTo>
                    <a:pt x="0" y="71120"/>
                    <a:pt x="71755" y="0"/>
                    <a:pt x="160147" y="0"/>
                  </a:cubicBezTo>
                  <a:lnTo>
                    <a:pt x="5625973" y="0"/>
                  </a:lnTo>
                  <a:lnTo>
                    <a:pt x="5625973" y="12700"/>
                  </a:lnTo>
                  <a:lnTo>
                    <a:pt x="5625973" y="0"/>
                  </a:lnTo>
                  <a:cubicBezTo>
                    <a:pt x="5714238" y="0"/>
                    <a:pt x="5786120" y="71120"/>
                    <a:pt x="5786120" y="159004"/>
                  </a:cubicBezTo>
                  <a:lnTo>
                    <a:pt x="5773420" y="159004"/>
                  </a:lnTo>
                  <a:lnTo>
                    <a:pt x="5786120" y="159004"/>
                  </a:lnTo>
                  <a:lnTo>
                    <a:pt x="5786120" y="2024380"/>
                  </a:lnTo>
                  <a:lnTo>
                    <a:pt x="5773420" y="2024380"/>
                  </a:lnTo>
                  <a:lnTo>
                    <a:pt x="5786120" y="2024380"/>
                  </a:lnTo>
                  <a:cubicBezTo>
                    <a:pt x="5786120" y="2112264"/>
                    <a:pt x="5714365" y="2183384"/>
                    <a:pt x="5625973" y="2183384"/>
                  </a:cubicBezTo>
                  <a:lnTo>
                    <a:pt x="5625973" y="2170684"/>
                  </a:lnTo>
                  <a:lnTo>
                    <a:pt x="5625973" y="2183384"/>
                  </a:lnTo>
                  <a:lnTo>
                    <a:pt x="160147" y="2183384"/>
                  </a:lnTo>
                  <a:lnTo>
                    <a:pt x="160147" y="2170684"/>
                  </a:lnTo>
                  <a:lnTo>
                    <a:pt x="160147" y="2183384"/>
                  </a:lnTo>
                  <a:cubicBezTo>
                    <a:pt x="71755" y="2183384"/>
                    <a:pt x="0" y="2112264"/>
                    <a:pt x="0" y="2024380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024380"/>
                  </a:lnTo>
                  <a:lnTo>
                    <a:pt x="12700" y="2024380"/>
                  </a:lnTo>
                  <a:lnTo>
                    <a:pt x="25400" y="2024380"/>
                  </a:lnTo>
                  <a:cubicBezTo>
                    <a:pt x="25400" y="2098040"/>
                    <a:pt x="85598" y="2157984"/>
                    <a:pt x="160147" y="2157984"/>
                  </a:cubicBezTo>
                  <a:lnTo>
                    <a:pt x="5625973" y="2157984"/>
                  </a:lnTo>
                  <a:cubicBezTo>
                    <a:pt x="5700395" y="2157984"/>
                    <a:pt x="5760720" y="2098040"/>
                    <a:pt x="5760720" y="2024380"/>
                  </a:cubicBezTo>
                  <a:lnTo>
                    <a:pt x="5760720" y="159004"/>
                  </a:lnTo>
                  <a:cubicBezTo>
                    <a:pt x="5760720" y="85344"/>
                    <a:pt x="5700522" y="25400"/>
                    <a:pt x="5625973" y="25400"/>
                  </a:cubicBezTo>
                  <a:lnTo>
                    <a:pt x="160147" y="25400"/>
                  </a:lnTo>
                  <a:lnTo>
                    <a:pt x="160147" y="12700"/>
                  </a:lnTo>
                  <a:lnTo>
                    <a:pt x="160147" y="25400"/>
                  </a:lnTo>
                  <a:cubicBezTo>
                    <a:pt x="85598" y="25400"/>
                    <a:pt x="25400" y="85344"/>
                    <a:pt x="25400" y="15900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24915" y="4887087"/>
            <a:ext cx="238506" cy="787146"/>
            <a:chOff x="0" y="0"/>
            <a:chExt cx="318008" cy="10495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292608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">
                  <a:moveTo>
                    <a:pt x="0" y="51689"/>
                  </a:moveTo>
                  <a:cubicBezTo>
                    <a:pt x="0" y="23114"/>
                    <a:pt x="21844" y="0"/>
                    <a:pt x="48768" y="0"/>
                  </a:cubicBezTo>
                  <a:lnTo>
                    <a:pt x="243840" y="0"/>
                  </a:lnTo>
                  <a:cubicBezTo>
                    <a:pt x="270764" y="0"/>
                    <a:pt x="292608" y="23114"/>
                    <a:pt x="292608" y="51689"/>
                  </a:cubicBezTo>
                  <a:lnTo>
                    <a:pt x="292608" y="972439"/>
                  </a:lnTo>
                  <a:cubicBezTo>
                    <a:pt x="292608" y="1001014"/>
                    <a:pt x="270764" y="1024128"/>
                    <a:pt x="243840" y="1024128"/>
                  </a:cubicBezTo>
                  <a:lnTo>
                    <a:pt x="48768" y="1024128"/>
                  </a:lnTo>
                  <a:cubicBezTo>
                    <a:pt x="21844" y="1024128"/>
                    <a:pt x="0" y="1001014"/>
                    <a:pt x="0" y="972439"/>
                  </a:cubicBezTo>
                  <a:close/>
                </a:path>
              </a:pathLst>
            </a:custGeom>
            <a:solidFill>
              <a:srgbClr val="A7C7E7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8008" cy="1049528"/>
            </a:xfrm>
            <a:custGeom>
              <a:avLst/>
              <a:gdLst/>
              <a:ahLst/>
              <a:cxnLst/>
              <a:rect r="r" b="b" t="t" l="l"/>
              <a:pathLst>
                <a:path h="1049528" w="318008">
                  <a:moveTo>
                    <a:pt x="0" y="64389"/>
                  </a:moveTo>
                  <a:cubicBezTo>
                    <a:pt x="0" y="29591"/>
                    <a:pt x="26797" y="0"/>
                    <a:pt x="61468" y="0"/>
                  </a:cubicBezTo>
                  <a:lnTo>
                    <a:pt x="256540" y="0"/>
                  </a:lnTo>
                  <a:lnTo>
                    <a:pt x="256540" y="12700"/>
                  </a:lnTo>
                  <a:lnTo>
                    <a:pt x="256540" y="0"/>
                  </a:lnTo>
                  <a:cubicBezTo>
                    <a:pt x="291211" y="0"/>
                    <a:pt x="318008" y="29591"/>
                    <a:pt x="318008" y="64389"/>
                  </a:cubicBezTo>
                  <a:lnTo>
                    <a:pt x="305308" y="64389"/>
                  </a:lnTo>
                  <a:lnTo>
                    <a:pt x="318008" y="64389"/>
                  </a:lnTo>
                  <a:lnTo>
                    <a:pt x="318008" y="985139"/>
                  </a:lnTo>
                  <a:lnTo>
                    <a:pt x="305308" y="985139"/>
                  </a:lnTo>
                  <a:lnTo>
                    <a:pt x="318008" y="985139"/>
                  </a:lnTo>
                  <a:cubicBezTo>
                    <a:pt x="318008" y="1020064"/>
                    <a:pt x="291211" y="1049528"/>
                    <a:pt x="256540" y="1049528"/>
                  </a:cubicBezTo>
                  <a:lnTo>
                    <a:pt x="256540" y="1036828"/>
                  </a:lnTo>
                  <a:lnTo>
                    <a:pt x="256540" y="1049528"/>
                  </a:lnTo>
                  <a:lnTo>
                    <a:pt x="61468" y="1049528"/>
                  </a:lnTo>
                  <a:lnTo>
                    <a:pt x="61468" y="1036828"/>
                  </a:lnTo>
                  <a:lnTo>
                    <a:pt x="61468" y="1049528"/>
                  </a:lnTo>
                  <a:cubicBezTo>
                    <a:pt x="26797" y="1049528"/>
                    <a:pt x="0" y="1019937"/>
                    <a:pt x="0" y="985139"/>
                  </a:cubicBezTo>
                  <a:lnTo>
                    <a:pt x="0" y="64389"/>
                  </a:lnTo>
                  <a:lnTo>
                    <a:pt x="12700" y="64389"/>
                  </a:lnTo>
                  <a:lnTo>
                    <a:pt x="0" y="64389"/>
                  </a:lnTo>
                  <a:moveTo>
                    <a:pt x="25400" y="64389"/>
                  </a:moveTo>
                  <a:lnTo>
                    <a:pt x="25400" y="985139"/>
                  </a:lnTo>
                  <a:lnTo>
                    <a:pt x="12700" y="985139"/>
                  </a:lnTo>
                  <a:lnTo>
                    <a:pt x="25400" y="985139"/>
                  </a:lnTo>
                  <a:cubicBezTo>
                    <a:pt x="25400" y="1007364"/>
                    <a:pt x="42291" y="1024128"/>
                    <a:pt x="61468" y="1024128"/>
                  </a:cubicBezTo>
                  <a:lnTo>
                    <a:pt x="256540" y="1024128"/>
                  </a:lnTo>
                  <a:cubicBezTo>
                    <a:pt x="275717" y="1024128"/>
                    <a:pt x="292608" y="1007364"/>
                    <a:pt x="292608" y="985139"/>
                  </a:cubicBezTo>
                  <a:lnTo>
                    <a:pt x="292608" y="64389"/>
                  </a:lnTo>
                  <a:cubicBezTo>
                    <a:pt x="292608" y="42164"/>
                    <a:pt x="275717" y="25400"/>
                    <a:pt x="256540" y="25400"/>
                  </a:cubicBezTo>
                  <a:lnTo>
                    <a:pt x="61468" y="25400"/>
                  </a:lnTo>
                  <a:lnTo>
                    <a:pt x="61468" y="12700"/>
                  </a:lnTo>
                  <a:lnTo>
                    <a:pt x="61468" y="25400"/>
                  </a:lnTo>
                  <a:cubicBezTo>
                    <a:pt x="42291" y="25400"/>
                    <a:pt x="25400" y="42164"/>
                    <a:pt x="25400" y="64389"/>
                  </a:cubicBezTo>
                  <a:close/>
                </a:path>
              </a:pathLst>
            </a:custGeom>
            <a:solidFill>
              <a:srgbClr val="A7C7E7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645920" y="4841748"/>
            <a:ext cx="2194560" cy="219456"/>
            <a:chOff x="0" y="0"/>
            <a:chExt cx="2926080" cy="2926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26080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92608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Liquidation Cascade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114800" y="4841748"/>
            <a:ext cx="685800" cy="219456"/>
            <a:chOff x="0" y="0"/>
            <a:chExt cx="914400" cy="2926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292608"/>
            </a:xfrm>
            <a:custGeom>
              <a:avLst/>
              <a:gdLst/>
              <a:ahLst/>
              <a:cxnLst/>
              <a:rect r="r" b="b" t="t" l="l"/>
              <a:pathLst>
                <a:path h="29260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91440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D4A01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23%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45920" y="5253228"/>
            <a:ext cx="2948940" cy="466344"/>
            <a:chOff x="0" y="0"/>
            <a:chExt cx="3931920" cy="621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31920" cy="621792"/>
            </a:xfrm>
            <a:custGeom>
              <a:avLst/>
              <a:gdLst/>
              <a:ahLst/>
              <a:cxnLst/>
              <a:rect r="r" b="b" t="t" l="l"/>
              <a:pathLst>
                <a:path h="62179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14" r="0" b="-7321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93192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sz="138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Health factor fragility, ETH shock modeling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8027" y="6683883"/>
            <a:ext cx="4339590" cy="1637538"/>
            <a:chOff x="0" y="0"/>
            <a:chExt cx="5786120" cy="21833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2700" y="12700"/>
              <a:ext cx="5760720" cy="2157984"/>
            </a:xfrm>
            <a:custGeom>
              <a:avLst/>
              <a:gdLst/>
              <a:ahLst/>
              <a:cxnLst/>
              <a:rect r="r" b="b" t="t" l="l"/>
              <a:pathLst>
                <a:path h="2157984" w="5760720">
                  <a:moveTo>
                    <a:pt x="0" y="146304"/>
                  </a:moveTo>
                  <a:cubicBezTo>
                    <a:pt x="0" y="65532"/>
                    <a:pt x="66040" y="0"/>
                    <a:pt x="147447" y="0"/>
                  </a:cubicBezTo>
                  <a:lnTo>
                    <a:pt x="5613273" y="0"/>
                  </a:lnTo>
                  <a:cubicBezTo>
                    <a:pt x="5694680" y="0"/>
                    <a:pt x="5760720" y="65532"/>
                    <a:pt x="5760720" y="146304"/>
                  </a:cubicBezTo>
                  <a:lnTo>
                    <a:pt x="5760720" y="2011680"/>
                  </a:lnTo>
                  <a:cubicBezTo>
                    <a:pt x="5760720" y="2092452"/>
                    <a:pt x="5694680" y="2157984"/>
                    <a:pt x="5613273" y="2157984"/>
                  </a:cubicBezTo>
                  <a:lnTo>
                    <a:pt x="147447" y="2157984"/>
                  </a:lnTo>
                  <a:cubicBezTo>
                    <a:pt x="66040" y="2157984"/>
                    <a:pt x="0" y="2092452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786120" cy="2183384"/>
            </a:xfrm>
            <a:custGeom>
              <a:avLst/>
              <a:gdLst/>
              <a:ahLst/>
              <a:cxnLst/>
              <a:rect r="r" b="b" t="t" l="l"/>
              <a:pathLst>
                <a:path h="2183384" w="5786120">
                  <a:moveTo>
                    <a:pt x="0" y="159004"/>
                  </a:moveTo>
                  <a:cubicBezTo>
                    <a:pt x="0" y="71120"/>
                    <a:pt x="71755" y="0"/>
                    <a:pt x="160147" y="0"/>
                  </a:cubicBezTo>
                  <a:lnTo>
                    <a:pt x="5625973" y="0"/>
                  </a:lnTo>
                  <a:lnTo>
                    <a:pt x="5625973" y="12700"/>
                  </a:lnTo>
                  <a:lnTo>
                    <a:pt x="5625973" y="0"/>
                  </a:lnTo>
                  <a:cubicBezTo>
                    <a:pt x="5714238" y="0"/>
                    <a:pt x="5786120" y="71120"/>
                    <a:pt x="5786120" y="159004"/>
                  </a:cubicBezTo>
                  <a:lnTo>
                    <a:pt x="5773420" y="159004"/>
                  </a:lnTo>
                  <a:lnTo>
                    <a:pt x="5786120" y="159004"/>
                  </a:lnTo>
                  <a:lnTo>
                    <a:pt x="5786120" y="2024380"/>
                  </a:lnTo>
                  <a:lnTo>
                    <a:pt x="5773420" y="2024380"/>
                  </a:lnTo>
                  <a:lnTo>
                    <a:pt x="5786120" y="2024380"/>
                  </a:lnTo>
                  <a:cubicBezTo>
                    <a:pt x="5786120" y="2112264"/>
                    <a:pt x="5714365" y="2183384"/>
                    <a:pt x="5625973" y="2183384"/>
                  </a:cubicBezTo>
                  <a:lnTo>
                    <a:pt x="5625973" y="2170684"/>
                  </a:lnTo>
                  <a:lnTo>
                    <a:pt x="5625973" y="2183384"/>
                  </a:lnTo>
                  <a:lnTo>
                    <a:pt x="160147" y="2183384"/>
                  </a:lnTo>
                  <a:lnTo>
                    <a:pt x="160147" y="2170684"/>
                  </a:lnTo>
                  <a:lnTo>
                    <a:pt x="160147" y="2183384"/>
                  </a:lnTo>
                  <a:cubicBezTo>
                    <a:pt x="71755" y="2183384"/>
                    <a:pt x="0" y="2112264"/>
                    <a:pt x="0" y="2024380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024380"/>
                  </a:lnTo>
                  <a:lnTo>
                    <a:pt x="12700" y="2024380"/>
                  </a:lnTo>
                  <a:lnTo>
                    <a:pt x="25400" y="2024380"/>
                  </a:lnTo>
                  <a:cubicBezTo>
                    <a:pt x="25400" y="2098040"/>
                    <a:pt x="85598" y="2157984"/>
                    <a:pt x="160147" y="2157984"/>
                  </a:cubicBezTo>
                  <a:lnTo>
                    <a:pt x="5625973" y="2157984"/>
                  </a:lnTo>
                  <a:cubicBezTo>
                    <a:pt x="5700395" y="2157984"/>
                    <a:pt x="5760720" y="2098040"/>
                    <a:pt x="5760720" y="2024380"/>
                  </a:cubicBezTo>
                  <a:lnTo>
                    <a:pt x="5760720" y="159004"/>
                  </a:lnTo>
                  <a:cubicBezTo>
                    <a:pt x="5760720" y="85344"/>
                    <a:pt x="5700522" y="25400"/>
                    <a:pt x="5625973" y="25400"/>
                  </a:cubicBezTo>
                  <a:lnTo>
                    <a:pt x="160147" y="25400"/>
                  </a:lnTo>
                  <a:lnTo>
                    <a:pt x="160147" y="12700"/>
                  </a:lnTo>
                  <a:lnTo>
                    <a:pt x="160147" y="25400"/>
                  </a:lnTo>
                  <a:cubicBezTo>
                    <a:pt x="85598" y="25400"/>
                    <a:pt x="25400" y="85344"/>
                    <a:pt x="25400" y="15900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24915" y="6985635"/>
            <a:ext cx="238506" cy="787146"/>
            <a:chOff x="0" y="0"/>
            <a:chExt cx="318008" cy="10495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2700" y="12700"/>
              <a:ext cx="292608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">
                  <a:moveTo>
                    <a:pt x="0" y="51689"/>
                  </a:moveTo>
                  <a:cubicBezTo>
                    <a:pt x="0" y="23114"/>
                    <a:pt x="21844" y="0"/>
                    <a:pt x="48768" y="0"/>
                  </a:cubicBezTo>
                  <a:lnTo>
                    <a:pt x="243840" y="0"/>
                  </a:lnTo>
                  <a:cubicBezTo>
                    <a:pt x="270764" y="0"/>
                    <a:pt x="292608" y="23114"/>
                    <a:pt x="292608" y="51689"/>
                  </a:cubicBezTo>
                  <a:lnTo>
                    <a:pt x="292608" y="972439"/>
                  </a:lnTo>
                  <a:cubicBezTo>
                    <a:pt x="292608" y="1001014"/>
                    <a:pt x="270764" y="1024128"/>
                    <a:pt x="243840" y="1024128"/>
                  </a:cubicBezTo>
                  <a:lnTo>
                    <a:pt x="48768" y="1024128"/>
                  </a:lnTo>
                  <a:cubicBezTo>
                    <a:pt x="21844" y="1024128"/>
                    <a:pt x="0" y="1001014"/>
                    <a:pt x="0" y="972439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8008" cy="1049528"/>
            </a:xfrm>
            <a:custGeom>
              <a:avLst/>
              <a:gdLst/>
              <a:ahLst/>
              <a:cxnLst/>
              <a:rect r="r" b="b" t="t" l="l"/>
              <a:pathLst>
                <a:path h="1049528" w="318008">
                  <a:moveTo>
                    <a:pt x="0" y="64389"/>
                  </a:moveTo>
                  <a:cubicBezTo>
                    <a:pt x="0" y="29591"/>
                    <a:pt x="26797" y="0"/>
                    <a:pt x="61468" y="0"/>
                  </a:cubicBezTo>
                  <a:lnTo>
                    <a:pt x="256540" y="0"/>
                  </a:lnTo>
                  <a:lnTo>
                    <a:pt x="256540" y="12700"/>
                  </a:lnTo>
                  <a:lnTo>
                    <a:pt x="256540" y="0"/>
                  </a:lnTo>
                  <a:cubicBezTo>
                    <a:pt x="291211" y="0"/>
                    <a:pt x="318008" y="29591"/>
                    <a:pt x="318008" y="64389"/>
                  </a:cubicBezTo>
                  <a:lnTo>
                    <a:pt x="305308" y="64389"/>
                  </a:lnTo>
                  <a:lnTo>
                    <a:pt x="318008" y="64389"/>
                  </a:lnTo>
                  <a:lnTo>
                    <a:pt x="318008" y="985139"/>
                  </a:lnTo>
                  <a:lnTo>
                    <a:pt x="305308" y="985139"/>
                  </a:lnTo>
                  <a:lnTo>
                    <a:pt x="318008" y="985139"/>
                  </a:lnTo>
                  <a:cubicBezTo>
                    <a:pt x="318008" y="1020064"/>
                    <a:pt x="291211" y="1049528"/>
                    <a:pt x="256540" y="1049528"/>
                  </a:cubicBezTo>
                  <a:lnTo>
                    <a:pt x="256540" y="1036828"/>
                  </a:lnTo>
                  <a:lnTo>
                    <a:pt x="256540" y="1049528"/>
                  </a:lnTo>
                  <a:lnTo>
                    <a:pt x="61468" y="1049528"/>
                  </a:lnTo>
                  <a:lnTo>
                    <a:pt x="61468" y="1036828"/>
                  </a:lnTo>
                  <a:lnTo>
                    <a:pt x="61468" y="1049528"/>
                  </a:lnTo>
                  <a:cubicBezTo>
                    <a:pt x="26797" y="1049528"/>
                    <a:pt x="0" y="1019937"/>
                    <a:pt x="0" y="985139"/>
                  </a:cubicBezTo>
                  <a:lnTo>
                    <a:pt x="0" y="64389"/>
                  </a:lnTo>
                  <a:lnTo>
                    <a:pt x="12700" y="64389"/>
                  </a:lnTo>
                  <a:lnTo>
                    <a:pt x="0" y="64389"/>
                  </a:lnTo>
                  <a:moveTo>
                    <a:pt x="25400" y="64389"/>
                  </a:moveTo>
                  <a:lnTo>
                    <a:pt x="25400" y="985139"/>
                  </a:lnTo>
                  <a:lnTo>
                    <a:pt x="12700" y="985139"/>
                  </a:lnTo>
                  <a:lnTo>
                    <a:pt x="25400" y="985139"/>
                  </a:lnTo>
                  <a:cubicBezTo>
                    <a:pt x="25400" y="1007364"/>
                    <a:pt x="42291" y="1024128"/>
                    <a:pt x="61468" y="1024128"/>
                  </a:cubicBezTo>
                  <a:lnTo>
                    <a:pt x="256540" y="1024128"/>
                  </a:lnTo>
                  <a:cubicBezTo>
                    <a:pt x="275717" y="1024128"/>
                    <a:pt x="292608" y="1007364"/>
                    <a:pt x="292608" y="985139"/>
                  </a:cubicBezTo>
                  <a:lnTo>
                    <a:pt x="292608" y="64389"/>
                  </a:lnTo>
                  <a:cubicBezTo>
                    <a:pt x="292608" y="42164"/>
                    <a:pt x="275717" y="25400"/>
                    <a:pt x="256540" y="25400"/>
                  </a:cubicBezTo>
                  <a:lnTo>
                    <a:pt x="61468" y="25400"/>
                  </a:lnTo>
                  <a:lnTo>
                    <a:pt x="61468" y="12700"/>
                  </a:lnTo>
                  <a:lnTo>
                    <a:pt x="61468" y="25400"/>
                  </a:lnTo>
                  <a:cubicBezTo>
                    <a:pt x="42291" y="25400"/>
                    <a:pt x="25400" y="42164"/>
                    <a:pt x="25400" y="64389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645920" y="6940296"/>
            <a:ext cx="2194560" cy="219456"/>
            <a:chOff x="0" y="0"/>
            <a:chExt cx="2926080" cy="2926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26080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292608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Pressure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114800" y="6940296"/>
            <a:ext cx="685800" cy="219456"/>
            <a:chOff x="0" y="0"/>
            <a:chExt cx="914400" cy="29260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292608"/>
            </a:xfrm>
            <a:custGeom>
              <a:avLst/>
              <a:gdLst/>
              <a:ahLst/>
              <a:cxnLst/>
              <a:rect r="r" b="b" t="t" l="l"/>
              <a:pathLst>
                <a:path h="29260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91440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D4A01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45920" y="7351776"/>
            <a:ext cx="2948940" cy="466344"/>
            <a:chOff x="0" y="0"/>
            <a:chExt cx="3931920" cy="6217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931920" cy="621792"/>
            </a:xfrm>
            <a:custGeom>
              <a:avLst/>
              <a:gdLst/>
              <a:ahLst/>
              <a:cxnLst/>
              <a:rect r="r" b="b" t="t" l="l"/>
              <a:pathLst>
                <a:path h="62179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14" r="0" b="-7321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93192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sz="138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Unlocks, emissions, dilution pressure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965811" y="2486787"/>
            <a:ext cx="4339590" cy="1637538"/>
            <a:chOff x="0" y="0"/>
            <a:chExt cx="5786120" cy="21833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2700" y="12700"/>
              <a:ext cx="5760720" cy="2157984"/>
            </a:xfrm>
            <a:custGeom>
              <a:avLst/>
              <a:gdLst/>
              <a:ahLst/>
              <a:cxnLst/>
              <a:rect r="r" b="b" t="t" l="l"/>
              <a:pathLst>
                <a:path h="2157984" w="5760720">
                  <a:moveTo>
                    <a:pt x="0" y="146304"/>
                  </a:moveTo>
                  <a:cubicBezTo>
                    <a:pt x="0" y="65532"/>
                    <a:pt x="66040" y="0"/>
                    <a:pt x="147447" y="0"/>
                  </a:cubicBezTo>
                  <a:lnTo>
                    <a:pt x="5613273" y="0"/>
                  </a:lnTo>
                  <a:cubicBezTo>
                    <a:pt x="5694680" y="0"/>
                    <a:pt x="5760720" y="65532"/>
                    <a:pt x="5760720" y="146304"/>
                  </a:cubicBezTo>
                  <a:lnTo>
                    <a:pt x="5760720" y="2011680"/>
                  </a:lnTo>
                  <a:cubicBezTo>
                    <a:pt x="5760720" y="2092452"/>
                    <a:pt x="5694680" y="2157984"/>
                    <a:pt x="5613273" y="2157984"/>
                  </a:cubicBezTo>
                  <a:lnTo>
                    <a:pt x="147447" y="2157984"/>
                  </a:lnTo>
                  <a:cubicBezTo>
                    <a:pt x="66040" y="2157984"/>
                    <a:pt x="0" y="2092452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786120" cy="2183384"/>
            </a:xfrm>
            <a:custGeom>
              <a:avLst/>
              <a:gdLst/>
              <a:ahLst/>
              <a:cxnLst/>
              <a:rect r="r" b="b" t="t" l="l"/>
              <a:pathLst>
                <a:path h="2183384" w="5786120">
                  <a:moveTo>
                    <a:pt x="0" y="159004"/>
                  </a:moveTo>
                  <a:cubicBezTo>
                    <a:pt x="0" y="71120"/>
                    <a:pt x="71755" y="0"/>
                    <a:pt x="160147" y="0"/>
                  </a:cubicBezTo>
                  <a:lnTo>
                    <a:pt x="5625973" y="0"/>
                  </a:lnTo>
                  <a:lnTo>
                    <a:pt x="5625973" y="12700"/>
                  </a:lnTo>
                  <a:lnTo>
                    <a:pt x="5625973" y="0"/>
                  </a:lnTo>
                  <a:cubicBezTo>
                    <a:pt x="5714238" y="0"/>
                    <a:pt x="5786120" y="71120"/>
                    <a:pt x="5786120" y="159004"/>
                  </a:cubicBezTo>
                  <a:lnTo>
                    <a:pt x="5773420" y="159004"/>
                  </a:lnTo>
                  <a:lnTo>
                    <a:pt x="5786120" y="159004"/>
                  </a:lnTo>
                  <a:lnTo>
                    <a:pt x="5786120" y="2024380"/>
                  </a:lnTo>
                  <a:lnTo>
                    <a:pt x="5773420" y="2024380"/>
                  </a:lnTo>
                  <a:lnTo>
                    <a:pt x="5786120" y="2024380"/>
                  </a:lnTo>
                  <a:cubicBezTo>
                    <a:pt x="5786120" y="2112264"/>
                    <a:pt x="5714365" y="2183384"/>
                    <a:pt x="5625973" y="2183384"/>
                  </a:cubicBezTo>
                  <a:lnTo>
                    <a:pt x="5625973" y="2170684"/>
                  </a:lnTo>
                  <a:lnTo>
                    <a:pt x="5625973" y="2183384"/>
                  </a:lnTo>
                  <a:lnTo>
                    <a:pt x="160147" y="2183384"/>
                  </a:lnTo>
                  <a:lnTo>
                    <a:pt x="160147" y="2170684"/>
                  </a:lnTo>
                  <a:lnTo>
                    <a:pt x="160147" y="2183384"/>
                  </a:lnTo>
                  <a:cubicBezTo>
                    <a:pt x="71755" y="2183384"/>
                    <a:pt x="0" y="2112264"/>
                    <a:pt x="0" y="2024380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024380"/>
                  </a:lnTo>
                  <a:lnTo>
                    <a:pt x="12700" y="2024380"/>
                  </a:lnTo>
                  <a:lnTo>
                    <a:pt x="25400" y="2024380"/>
                  </a:lnTo>
                  <a:cubicBezTo>
                    <a:pt x="25400" y="2098040"/>
                    <a:pt x="85598" y="2157984"/>
                    <a:pt x="160147" y="2157984"/>
                  </a:cubicBezTo>
                  <a:lnTo>
                    <a:pt x="5625973" y="2157984"/>
                  </a:lnTo>
                  <a:cubicBezTo>
                    <a:pt x="5700395" y="2157984"/>
                    <a:pt x="5760720" y="2098040"/>
                    <a:pt x="5760720" y="2024380"/>
                  </a:cubicBezTo>
                  <a:lnTo>
                    <a:pt x="5760720" y="159004"/>
                  </a:lnTo>
                  <a:cubicBezTo>
                    <a:pt x="5760720" y="85344"/>
                    <a:pt x="5700522" y="25400"/>
                    <a:pt x="5625973" y="25400"/>
                  </a:cubicBezTo>
                  <a:lnTo>
                    <a:pt x="160147" y="25400"/>
                  </a:lnTo>
                  <a:lnTo>
                    <a:pt x="160147" y="12700"/>
                  </a:lnTo>
                  <a:lnTo>
                    <a:pt x="160147" y="25400"/>
                  </a:lnTo>
                  <a:cubicBezTo>
                    <a:pt x="85598" y="25400"/>
                    <a:pt x="25400" y="85344"/>
                    <a:pt x="25400" y="15900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432155" y="2788539"/>
            <a:ext cx="238506" cy="787146"/>
            <a:chOff x="0" y="0"/>
            <a:chExt cx="318008" cy="10495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2700" y="12700"/>
              <a:ext cx="292608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">
                  <a:moveTo>
                    <a:pt x="0" y="51689"/>
                  </a:moveTo>
                  <a:cubicBezTo>
                    <a:pt x="0" y="23114"/>
                    <a:pt x="21844" y="0"/>
                    <a:pt x="48768" y="0"/>
                  </a:cubicBezTo>
                  <a:lnTo>
                    <a:pt x="243840" y="0"/>
                  </a:lnTo>
                  <a:cubicBezTo>
                    <a:pt x="270764" y="0"/>
                    <a:pt x="292608" y="23114"/>
                    <a:pt x="292608" y="51689"/>
                  </a:cubicBezTo>
                  <a:lnTo>
                    <a:pt x="292608" y="972439"/>
                  </a:lnTo>
                  <a:cubicBezTo>
                    <a:pt x="292608" y="1001014"/>
                    <a:pt x="270764" y="1024128"/>
                    <a:pt x="243840" y="1024128"/>
                  </a:cubicBezTo>
                  <a:lnTo>
                    <a:pt x="48768" y="1024128"/>
                  </a:lnTo>
                  <a:cubicBezTo>
                    <a:pt x="21844" y="1024128"/>
                    <a:pt x="0" y="1001014"/>
                    <a:pt x="0" y="972439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8008" cy="1049528"/>
            </a:xfrm>
            <a:custGeom>
              <a:avLst/>
              <a:gdLst/>
              <a:ahLst/>
              <a:cxnLst/>
              <a:rect r="r" b="b" t="t" l="l"/>
              <a:pathLst>
                <a:path h="1049528" w="318008">
                  <a:moveTo>
                    <a:pt x="0" y="64389"/>
                  </a:moveTo>
                  <a:cubicBezTo>
                    <a:pt x="0" y="29591"/>
                    <a:pt x="26797" y="0"/>
                    <a:pt x="61468" y="0"/>
                  </a:cubicBezTo>
                  <a:lnTo>
                    <a:pt x="256540" y="0"/>
                  </a:lnTo>
                  <a:lnTo>
                    <a:pt x="256540" y="12700"/>
                  </a:lnTo>
                  <a:lnTo>
                    <a:pt x="256540" y="0"/>
                  </a:lnTo>
                  <a:cubicBezTo>
                    <a:pt x="291211" y="0"/>
                    <a:pt x="318008" y="29591"/>
                    <a:pt x="318008" y="64389"/>
                  </a:cubicBezTo>
                  <a:lnTo>
                    <a:pt x="305308" y="64389"/>
                  </a:lnTo>
                  <a:lnTo>
                    <a:pt x="318008" y="64389"/>
                  </a:lnTo>
                  <a:lnTo>
                    <a:pt x="318008" y="985139"/>
                  </a:lnTo>
                  <a:lnTo>
                    <a:pt x="305308" y="985139"/>
                  </a:lnTo>
                  <a:lnTo>
                    <a:pt x="318008" y="985139"/>
                  </a:lnTo>
                  <a:cubicBezTo>
                    <a:pt x="318008" y="1020064"/>
                    <a:pt x="291211" y="1049528"/>
                    <a:pt x="256540" y="1049528"/>
                  </a:cubicBezTo>
                  <a:lnTo>
                    <a:pt x="256540" y="1036828"/>
                  </a:lnTo>
                  <a:lnTo>
                    <a:pt x="256540" y="1049528"/>
                  </a:lnTo>
                  <a:lnTo>
                    <a:pt x="61468" y="1049528"/>
                  </a:lnTo>
                  <a:lnTo>
                    <a:pt x="61468" y="1036828"/>
                  </a:lnTo>
                  <a:lnTo>
                    <a:pt x="61468" y="1049528"/>
                  </a:lnTo>
                  <a:cubicBezTo>
                    <a:pt x="26797" y="1049528"/>
                    <a:pt x="0" y="1019937"/>
                    <a:pt x="0" y="985139"/>
                  </a:cubicBezTo>
                  <a:lnTo>
                    <a:pt x="0" y="64389"/>
                  </a:lnTo>
                  <a:lnTo>
                    <a:pt x="12700" y="64389"/>
                  </a:lnTo>
                  <a:lnTo>
                    <a:pt x="0" y="64389"/>
                  </a:lnTo>
                  <a:moveTo>
                    <a:pt x="25400" y="64389"/>
                  </a:moveTo>
                  <a:lnTo>
                    <a:pt x="25400" y="985139"/>
                  </a:lnTo>
                  <a:lnTo>
                    <a:pt x="12700" y="985139"/>
                  </a:lnTo>
                  <a:lnTo>
                    <a:pt x="25400" y="985139"/>
                  </a:lnTo>
                  <a:cubicBezTo>
                    <a:pt x="25400" y="1007364"/>
                    <a:pt x="42291" y="1024128"/>
                    <a:pt x="61468" y="1024128"/>
                  </a:cubicBezTo>
                  <a:lnTo>
                    <a:pt x="256540" y="1024128"/>
                  </a:lnTo>
                  <a:cubicBezTo>
                    <a:pt x="275717" y="1024128"/>
                    <a:pt x="292608" y="1007364"/>
                    <a:pt x="292608" y="985139"/>
                  </a:cubicBezTo>
                  <a:lnTo>
                    <a:pt x="292608" y="64389"/>
                  </a:lnTo>
                  <a:cubicBezTo>
                    <a:pt x="292608" y="42164"/>
                    <a:pt x="275717" y="25400"/>
                    <a:pt x="256540" y="25400"/>
                  </a:cubicBezTo>
                  <a:lnTo>
                    <a:pt x="61468" y="25400"/>
                  </a:lnTo>
                  <a:lnTo>
                    <a:pt x="61468" y="12700"/>
                  </a:lnTo>
                  <a:lnTo>
                    <a:pt x="61468" y="25400"/>
                  </a:lnTo>
                  <a:cubicBezTo>
                    <a:pt x="42291" y="25400"/>
                    <a:pt x="25400" y="42164"/>
                    <a:pt x="25400" y="64389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853160" y="2743200"/>
            <a:ext cx="2194560" cy="219456"/>
            <a:chOff x="0" y="0"/>
            <a:chExt cx="2926080" cy="2926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926080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292608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Governance Capture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6075152" y="2743200"/>
            <a:ext cx="685800" cy="219456"/>
            <a:chOff x="0" y="0"/>
            <a:chExt cx="914400" cy="29260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4400" cy="292608"/>
            </a:xfrm>
            <a:custGeom>
              <a:avLst/>
              <a:gdLst/>
              <a:ahLst/>
              <a:cxnLst/>
              <a:rect r="r" b="b" t="t" l="l"/>
              <a:pathLst>
                <a:path h="29260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91440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D4A01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19%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853160" y="3154680"/>
            <a:ext cx="2948940" cy="466344"/>
            <a:chOff x="0" y="0"/>
            <a:chExt cx="3931920" cy="6217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931920" cy="621792"/>
            </a:xfrm>
            <a:custGeom>
              <a:avLst/>
              <a:gdLst/>
              <a:ahLst/>
              <a:cxnLst/>
              <a:rect r="r" b="b" t="t" l="l"/>
              <a:pathLst>
                <a:path h="62179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14" r="0" b="-7321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393192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sz="138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Voting concentration, quorum analysis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965811" y="4585335"/>
            <a:ext cx="4339590" cy="1637538"/>
            <a:chOff x="0" y="0"/>
            <a:chExt cx="5786120" cy="218338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2700" y="12700"/>
              <a:ext cx="5760720" cy="2157984"/>
            </a:xfrm>
            <a:custGeom>
              <a:avLst/>
              <a:gdLst/>
              <a:ahLst/>
              <a:cxnLst/>
              <a:rect r="r" b="b" t="t" l="l"/>
              <a:pathLst>
                <a:path h="2157984" w="5760720">
                  <a:moveTo>
                    <a:pt x="0" y="146304"/>
                  </a:moveTo>
                  <a:cubicBezTo>
                    <a:pt x="0" y="65532"/>
                    <a:pt x="66040" y="0"/>
                    <a:pt x="147447" y="0"/>
                  </a:cubicBezTo>
                  <a:lnTo>
                    <a:pt x="5613273" y="0"/>
                  </a:lnTo>
                  <a:cubicBezTo>
                    <a:pt x="5694680" y="0"/>
                    <a:pt x="5760720" y="65532"/>
                    <a:pt x="5760720" y="146304"/>
                  </a:cubicBezTo>
                  <a:lnTo>
                    <a:pt x="5760720" y="2011680"/>
                  </a:lnTo>
                  <a:cubicBezTo>
                    <a:pt x="5760720" y="2092452"/>
                    <a:pt x="5694680" y="2157984"/>
                    <a:pt x="5613273" y="2157984"/>
                  </a:cubicBezTo>
                  <a:lnTo>
                    <a:pt x="147447" y="2157984"/>
                  </a:lnTo>
                  <a:cubicBezTo>
                    <a:pt x="66040" y="2157984"/>
                    <a:pt x="0" y="2092452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786120" cy="2183384"/>
            </a:xfrm>
            <a:custGeom>
              <a:avLst/>
              <a:gdLst/>
              <a:ahLst/>
              <a:cxnLst/>
              <a:rect r="r" b="b" t="t" l="l"/>
              <a:pathLst>
                <a:path h="2183384" w="5786120">
                  <a:moveTo>
                    <a:pt x="0" y="159004"/>
                  </a:moveTo>
                  <a:cubicBezTo>
                    <a:pt x="0" y="71120"/>
                    <a:pt x="71755" y="0"/>
                    <a:pt x="160147" y="0"/>
                  </a:cubicBezTo>
                  <a:lnTo>
                    <a:pt x="5625973" y="0"/>
                  </a:lnTo>
                  <a:lnTo>
                    <a:pt x="5625973" y="12700"/>
                  </a:lnTo>
                  <a:lnTo>
                    <a:pt x="5625973" y="0"/>
                  </a:lnTo>
                  <a:cubicBezTo>
                    <a:pt x="5714238" y="0"/>
                    <a:pt x="5786120" y="71120"/>
                    <a:pt x="5786120" y="159004"/>
                  </a:cubicBezTo>
                  <a:lnTo>
                    <a:pt x="5773420" y="159004"/>
                  </a:lnTo>
                  <a:lnTo>
                    <a:pt x="5786120" y="159004"/>
                  </a:lnTo>
                  <a:lnTo>
                    <a:pt x="5786120" y="2024380"/>
                  </a:lnTo>
                  <a:lnTo>
                    <a:pt x="5773420" y="2024380"/>
                  </a:lnTo>
                  <a:lnTo>
                    <a:pt x="5786120" y="2024380"/>
                  </a:lnTo>
                  <a:cubicBezTo>
                    <a:pt x="5786120" y="2112264"/>
                    <a:pt x="5714365" y="2183384"/>
                    <a:pt x="5625973" y="2183384"/>
                  </a:cubicBezTo>
                  <a:lnTo>
                    <a:pt x="5625973" y="2170684"/>
                  </a:lnTo>
                  <a:lnTo>
                    <a:pt x="5625973" y="2183384"/>
                  </a:lnTo>
                  <a:lnTo>
                    <a:pt x="160147" y="2183384"/>
                  </a:lnTo>
                  <a:lnTo>
                    <a:pt x="160147" y="2170684"/>
                  </a:lnTo>
                  <a:lnTo>
                    <a:pt x="160147" y="2183384"/>
                  </a:lnTo>
                  <a:cubicBezTo>
                    <a:pt x="71755" y="2183384"/>
                    <a:pt x="0" y="2112264"/>
                    <a:pt x="0" y="2024380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024380"/>
                  </a:lnTo>
                  <a:lnTo>
                    <a:pt x="12700" y="2024380"/>
                  </a:lnTo>
                  <a:lnTo>
                    <a:pt x="25400" y="2024380"/>
                  </a:lnTo>
                  <a:cubicBezTo>
                    <a:pt x="25400" y="2098040"/>
                    <a:pt x="85598" y="2157984"/>
                    <a:pt x="160147" y="2157984"/>
                  </a:cubicBezTo>
                  <a:lnTo>
                    <a:pt x="5625973" y="2157984"/>
                  </a:lnTo>
                  <a:cubicBezTo>
                    <a:pt x="5700395" y="2157984"/>
                    <a:pt x="5760720" y="2098040"/>
                    <a:pt x="5760720" y="2024380"/>
                  </a:cubicBezTo>
                  <a:lnTo>
                    <a:pt x="5760720" y="159004"/>
                  </a:lnTo>
                  <a:cubicBezTo>
                    <a:pt x="5760720" y="85344"/>
                    <a:pt x="5700522" y="25400"/>
                    <a:pt x="5625973" y="25400"/>
                  </a:cubicBezTo>
                  <a:lnTo>
                    <a:pt x="160147" y="25400"/>
                  </a:lnTo>
                  <a:lnTo>
                    <a:pt x="160147" y="12700"/>
                  </a:lnTo>
                  <a:lnTo>
                    <a:pt x="160147" y="25400"/>
                  </a:lnTo>
                  <a:cubicBezTo>
                    <a:pt x="85598" y="25400"/>
                    <a:pt x="25400" y="85344"/>
                    <a:pt x="25400" y="15900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432155" y="4887087"/>
            <a:ext cx="238506" cy="787146"/>
            <a:chOff x="0" y="0"/>
            <a:chExt cx="318008" cy="10495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2700" y="12700"/>
              <a:ext cx="292608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">
                  <a:moveTo>
                    <a:pt x="0" y="51689"/>
                  </a:moveTo>
                  <a:cubicBezTo>
                    <a:pt x="0" y="23114"/>
                    <a:pt x="21844" y="0"/>
                    <a:pt x="48768" y="0"/>
                  </a:cubicBezTo>
                  <a:lnTo>
                    <a:pt x="243840" y="0"/>
                  </a:lnTo>
                  <a:cubicBezTo>
                    <a:pt x="270764" y="0"/>
                    <a:pt x="292608" y="23114"/>
                    <a:pt x="292608" y="51689"/>
                  </a:cubicBezTo>
                  <a:lnTo>
                    <a:pt x="292608" y="972439"/>
                  </a:lnTo>
                  <a:cubicBezTo>
                    <a:pt x="292608" y="1001014"/>
                    <a:pt x="270764" y="1024128"/>
                    <a:pt x="243840" y="1024128"/>
                  </a:cubicBezTo>
                  <a:lnTo>
                    <a:pt x="48768" y="1024128"/>
                  </a:lnTo>
                  <a:cubicBezTo>
                    <a:pt x="21844" y="1024128"/>
                    <a:pt x="0" y="1001014"/>
                    <a:pt x="0" y="972439"/>
                  </a:cubicBezTo>
                  <a:close/>
                </a:path>
              </a:pathLst>
            </a:custGeom>
            <a:solidFill>
              <a:srgbClr val="F2B766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8008" cy="1049528"/>
            </a:xfrm>
            <a:custGeom>
              <a:avLst/>
              <a:gdLst/>
              <a:ahLst/>
              <a:cxnLst/>
              <a:rect r="r" b="b" t="t" l="l"/>
              <a:pathLst>
                <a:path h="1049528" w="318008">
                  <a:moveTo>
                    <a:pt x="0" y="64389"/>
                  </a:moveTo>
                  <a:cubicBezTo>
                    <a:pt x="0" y="29591"/>
                    <a:pt x="26797" y="0"/>
                    <a:pt x="61468" y="0"/>
                  </a:cubicBezTo>
                  <a:lnTo>
                    <a:pt x="256540" y="0"/>
                  </a:lnTo>
                  <a:lnTo>
                    <a:pt x="256540" y="12700"/>
                  </a:lnTo>
                  <a:lnTo>
                    <a:pt x="256540" y="0"/>
                  </a:lnTo>
                  <a:cubicBezTo>
                    <a:pt x="291211" y="0"/>
                    <a:pt x="318008" y="29591"/>
                    <a:pt x="318008" y="64389"/>
                  </a:cubicBezTo>
                  <a:lnTo>
                    <a:pt x="305308" y="64389"/>
                  </a:lnTo>
                  <a:lnTo>
                    <a:pt x="318008" y="64389"/>
                  </a:lnTo>
                  <a:lnTo>
                    <a:pt x="318008" y="985139"/>
                  </a:lnTo>
                  <a:lnTo>
                    <a:pt x="305308" y="985139"/>
                  </a:lnTo>
                  <a:lnTo>
                    <a:pt x="318008" y="985139"/>
                  </a:lnTo>
                  <a:cubicBezTo>
                    <a:pt x="318008" y="1020064"/>
                    <a:pt x="291211" y="1049528"/>
                    <a:pt x="256540" y="1049528"/>
                  </a:cubicBezTo>
                  <a:lnTo>
                    <a:pt x="256540" y="1036828"/>
                  </a:lnTo>
                  <a:lnTo>
                    <a:pt x="256540" y="1049528"/>
                  </a:lnTo>
                  <a:lnTo>
                    <a:pt x="61468" y="1049528"/>
                  </a:lnTo>
                  <a:lnTo>
                    <a:pt x="61468" y="1036828"/>
                  </a:lnTo>
                  <a:lnTo>
                    <a:pt x="61468" y="1049528"/>
                  </a:lnTo>
                  <a:cubicBezTo>
                    <a:pt x="26797" y="1049528"/>
                    <a:pt x="0" y="1019937"/>
                    <a:pt x="0" y="985139"/>
                  </a:cubicBezTo>
                  <a:lnTo>
                    <a:pt x="0" y="64389"/>
                  </a:lnTo>
                  <a:lnTo>
                    <a:pt x="12700" y="64389"/>
                  </a:lnTo>
                  <a:lnTo>
                    <a:pt x="0" y="64389"/>
                  </a:lnTo>
                  <a:moveTo>
                    <a:pt x="25400" y="64389"/>
                  </a:moveTo>
                  <a:lnTo>
                    <a:pt x="25400" y="985139"/>
                  </a:lnTo>
                  <a:lnTo>
                    <a:pt x="12700" y="985139"/>
                  </a:lnTo>
                  <a:lnTo>
                    <a:pt x="25400" y="985139"/>
                  </a:lnTo>
                  <a:cubicBezTo>
                    <a:pt x="25400" y="1007364"/>
                    <a:pt x="42291" y="1024128"/>
                    <a:pt x="61468" y="1024128"/>
                  </a:cubicBezTo>
                  <a:lnTo>
                    <a:pt x="256540" y="1024128"/>
                  </a:lnTo>
                  <a:cubicBezTo>
                    <a:pt x="275717" y="1024128"/>
                    <a:pt x="292608" y="1007364"/>
                    <a:pt x="292608" y="985139"/>
                  </a:cubicBezTo>
                  <a:lnTo>
                    <a:pt x="292608" y="64389"/>
                  </a:lnTo>
                  <a:cubicBezTo>
                    <a:pt x="292608" y="42164"/>
                    <a:pt x="275717" y="25400"/>
                    <a:pt x="256540" y="25400"/>
                  </a:cubicBezTo>
                  <a:lnTo>
                    <a:pt x="61468" y="25400"/>
                  </a:lnTo>
                  <a:lnTo>
                    <a:pt x="61468" y="12700"/>
                  </a:lnTo>
                  <a:lnTo>
                    <a:pt x="61468" y="25400"/>
                  </a:lnTo>
                  <a:cubicBezTo>
                    <a:pt x="42291" y="25400"/>
                    <a:pt x="25400" y="42164"/>
                    <a:pt x="25400" y="64389"/>
                  </a:cubicBezTo>
                  <a:close/>
                </a:path>
              </a:pathLst>
            </a:custGeom>
            <a:solidFill>
              <a:srgbClr val="F2B766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3853160" y="4841748"/>
            <a:ext cx="2194560" cy="219456"/>
            <a:chOff x="0" y="0"/>
            <a:chExt cx="2926080" cy="29260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926080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292608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Oracle Dependency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6075152" y="4841748"/>
            <a:ext cx="685800" cy="219456"/>
            <a:chOff x="0" y="0"/>
            <a:chExt cx="914400" cy="29260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14400" cy="292608"/>
            </a:xfrm>
            <a:custGeom>
              <a:avLst/>
              <a:gdLst/>
              <a:ahLst/>
              <a:cxnLst/>
              <a:rect r="r" b="b" t="t" l="l"/>
              <a:pathLst>
                <a:path h="29260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91440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D4A01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14%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853160" y="5253228"/>
            <a:ext cx="2948940" cy="466344"/>
            <a:chOff x="0" y="0"/>
            <a:chExt cx="3931920" cy="6217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31920" cy="621792"/>
            </a:xfrm>
            <a:custGeom>
              <a:avLst/>
              <a:gdLst/>
              <a:ahLst/>
              <a:cxnLst/>
              <a:rect r="r" b="b" t="t" l="l"/>
              <a:pathLst>
                <a:path h="62179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14" r="0" b="-7321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393192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sz="138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Feed freshness and single-source exposure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965811" y="6683883"/>
            <a:ext cx="4339590" cy="1637538"/>
            <a:chOff x="0" y="0"/>
            <a:chExt cx="5786120" cy="21833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2700" y="12700"/>
              <a:ext cx="5760720" cy="2157984"/>
            </a:xfrm>
            <a:custGeom>
              <a:avLst/>
              <a:gdLst/>
              <a:ahLst/>
              <a:cxnLst/>
              <a:rect r="r" b="b" t="t" l="l"/>
              <a:pathLst>
                <a:path h="2157984" w="5760720">
                  <a:moveTo>
                    <a:pt x="0" y="146304"/>
                  </a:moveTo>
                  <a:cubicBezTo>
                    <a:pt x="0" y="65532"/>
                    <a:pt x="66040" y="0"/>
                    <a:pt x="147447" y="0"/>
                  </a:cubicBezTo>
                  <a:lnTo>
                    <a:pt x="5613273" y="0"/>
                  </a:lnTo>
                  <a:cubicBezTo>
                    <a:pt x="5694680" y="0"/>
                    <a:pt x="5760720" y="65532"/>
                    <a:pt x="5760720" y="146304"/>
                  </a:cubicBezTo>
                  <a:lnTo>
                    <a:pt x="5760720" y="2011680"/>
                  </a:lnTo>
                  <a:cubicBezTo>
                    <a:pt x="5760720" y="2092452"/>
                    <a:pt x="5694680" y="2157984"/>
                    <a:pt x="5613273" y="2157984"/>
                  </a:cubicBezTo>
                  <a:lnTo>
                    <a:pt x="147447" y="2157984"/>
                  </a:lnTo>
                  <a:cubicBezTo>
                    <a:pt x="66040" y="2157984"/>
                    <a:pt x="0" y="2092452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786120" cy="2183384"/>
            </a:xfrm>
            <a:custGeom>
              <a:avLst/>
              <a:gdLst/>
              <a:ahLst/>
              <a:cxnLst/>
              <a:rect r="r" b="b" t="t" l="l"/>
              <a:pathLst>
                <a:path h="2183384" w="5786120">
                  <a:moveTo>
                    <a:pt x="0" y="159004"/>
                  </a:moveTo>
                  <a:cubicBezTo>
                    <a:pt x="0" y="71120"/>
                    <a:pt x="71755" y="0"/>
                    <a:pt x="160147" y="0"/>
                  </a:cubicBezTo>
                  <a:lnTo>
                    <a:pt x="5625973" y="0"/>
                  </a:lnTo>
                  <a:lnTo>
                    <a:pt x="5625973" y="12700"/>
                  </a:lnTo>
                  <a:lnTo>
                    <a:pt x="5625973" y="0"/>
                  </a:lnTo>
                  <a:cubicBezTo>
                    <a:pt x="5714238" y="0"/>
                    <a:pt x="5786120" y="71120"/>
                    <a:pt x="5786120" y="159004"/>
                  </a:cubicBezTo>
                  <a:lnTo>
                    <a:pt x="5773420" y="159004"/>
                  </a:lnTo>
                  <a:lnTo>
                    <a:pt x="5786120" y="159004"/>
                  </a:lnTo>
                  <a:lnTo>
                    <a:pt x="5786120" y="2024380"/>
                  </a:lnTo>
                  <a:lnTo>
                    <a:pt x="5773420" y="2024380"/>
                  </a:lnTo>
                  <a:lnTo>
                    <a:pt x="5786120" y="2024380"/>
                  </a:lnTo>
                  <a:cubicBezTo>
                    <a:pt x="5786120" y="2112264"/>
                    <a:pt x="5714365" y="2183384"/>
                    <a:pt x="5625973" y="2183384"/>
                  </a:cubicBezTo>
                  <a:lnTo>
                    <a:pt x="5625973" y="2170684"/>
                  </a:lnTo>
                  <a:lnTo>
                    <a:pt x="5625973" y="2183384"/>
                  </a:lnTo>
                  <a:lnTo>
                    <a:pt x="160147" y="2183384"/>
                  </a:lnTo>
                  <a:lnTo>
                    <a:pt x="160147" y="2170684"/>
                  </a:lnTo>
                  <a:lnTo>
                    <a:pt x="160147" y="2183384"/>
                  </a:lnTo>
                  <a:cubicBezTo>
                    <a:pt x="71755" y="2183384"/>
                    <a:pt x="0" y="2112264"/>
                    <a:pt x="0" y="2024380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024380"/>
                  </a:lnTo>
                  <a:lnTo>
                    <a:pt x="12700" y="2024380"/>
                  </a:lnTo>
                  <a:lnTo>
                    <a:pt x="25400" y="2024380"/>
                  </a:lnTo>
                  <a:cubicBezTo>
                    <a:pt x="25400" y="2098040"/>
                    <a:pt x="85598" y="2157984"/>
                    <a:pt x="160147" y="2157984"/>
                  </a:cubicBezTo>
                  <a:lnTo>
                    <a:pt x="5625973" y="2157984"/>
                  </a:lnTo>
                  <a:cubicBezTo>
                    <a:pt x="5700395" y="2157984"/>
                    <a:pt x="5760720" y="2098040"/>
                    <a:pt x="5760720" y="2024380"/>
                  </a:cubicBezTo>
                  <a:lnTo>
                    <a:pt x="5760720" y="159004"/>
                  </a:lnTo>
                  <a:cubicBezTo>
                    <a:pt x="5760720" y="85344"/>
                    <a:pt x="5700522" y="25400"/>
                    <a:pt x="5625973" y="25400"/>
                  </a:cubicBezTo>
                  <a:lnTo>
                    <a:pt x="160147" y="25400"/>
                  </a:lnTo>
                  <a:lnTo>
                    <a:pt x="160147" y="12700"/>
                  </a:lnTo>
                  <a:lnTo>
                    <a:pt x="160147" y="25400"/>
                  </a:lnTo>
                  <a:cubicBezTo>
                    <a:pt x="85598" y="25400"/>
                    <a:pt x="25400" y="85344"/>
                    <a:pt x="25400" y="15900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432155" y="6985635"/>
            <a:ext cx="238506" cy="787146"/>
            <a:chOff x="0" y="0"/>
            <a:chExt cx="318008" cy="104952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2700" y="12700"/>
              <a:ext cx="292608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">
                  <a:moveTo>
                    <a:pt x="0" y="51689"/>
                  </a:moveTo>
                  <a:cubicBezTo>
                    <a:pt x="0" y="23114"/>
                    <a:pt x="21844" y="0"/>
                    <a:pt x="48768" y="0"/>
                  </a:cubicBezTo>
                  <a:lnTo>
                    <a:pt x="243840" y="0"/>
                  </a:lnTo>
                  <a:cubicBezTo>
                    <a:pt x="270764" y="0"/>
                    <a:pt x="292608" y="23114"/>
                    <a:pt x="292608" y="51689"/>
                  </a:cubicBezTo>
                  <a:lnTo>
                    <a:pt x="292608" y="972439"/>
                  </a:lnTo>
                  <a:cubicBezTo>
                    <a:pt x="292608" y="1001014"/>
                    <a:pt x="270764" y="1024128"/>
                    <a:pt x="243840" y="1024128"/>
                  </a:cubicBezTo>
                  <a:lnTo>
                    <a:pt x="48768" y="1024128"/>
                  </a:lnTo>
                  <a:cubicBezTo>
                    <a:pt x="21844" y="1024128"/>
                    <a:pt x="0" y="1001014"/>
                    <a:pt x="0" y="972439"/>
                  </a:cubicBezTo>
                  <a:close/>
                </a:path>
              </a:pathLst>
            </a:custGeom>
            <a:solidFill>
              <a:srgbClr val="E57373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18008" cy="1049528"/>
            </a:xfrm>
            <a:custGeom>
              <a:avLst/>
              <a:gdLst/>
              <a:ahLst/>
              <a:cxnLst/>
              <a:rect r="r" b="b" t="t" l="l"/>
              <a:pathLst>
                <a:path h="1049528" w="318008">
                  <a:moveTo>
                    <a:pt x="0" y="64389"/>
                  </a:moveTo>
                  <a:cubicBezTo>
                    <a:pt x="0" y="29591"/>
                    <a:pt x="26797" y="0"/>
                    <a:pt x="61468" y="0"/>
                  </a:cubicBezTo>
                  <a:lnTo>
                    <a:pt x="256540" y="0"/>
                  </a:lnTo>
                  <a:lnTo>
                    <a:pt x="256540" y="12700"/>
                  </a:lnTo>
                  <a:lnTo>
                    <a:pt x="256540" y="0"/>
                  </a:lnTo>
                  <a:cubicBezTo>
                    <a:pt x="291211" y="0"/>
                    <a:pt x="318008" y="29591"/>
                    <a:pt x="318008" y="64389"/>
                  </a:cubicBezTo>
                  <a:lnTo>
                    <a:pt x="305308" y="64389"/>
                  </a:lnTo>
                  <a:lnTo>
                    <a:pt x="318008" y="64389"/>
                  </a:lnTo>
                  <a:lnTo>
                    <a:pt x="318008" y="985139"/>
                  </a:lnTo>
                  <a:lnTo>
                    <a:pt x="305308" y="985139"/>
                  </a:lnTo>
                  <a:lnTo>
                    <a:pt x="318008" y="985139"/>
                  </a:lnTo>
                  <a:cubicBezTo>
                    <a:pt x="318008" y="1020064"/>
                    <a:pt x="291211" y="1049528"/>
                    <a:pt x="256540" y="1049528"/>
                  </a:cubicBezTo>
                  <a:lnTo>
                    <a:pt x="256540" y="1036828"/>
                  </a:lnTo>
                  <a:lnTo>
                    <a:pt x="256540" y="1049528"/>
                  </a:lnTo>
                  <a:lnTo>
                    <a:pt x="61468" y="1049528"/>
                  </a:lnTo>
                  <a:lnTo>
                    <a:pt x="61468" y="1036828"/>
                  </a:lnTo>
                  <a:lnTo>
                    <a:pt x="61468" y="1049528"/>
                  </a:lnTo>
                  <a:cubicBezTo>
                    <a:pt x="26797" y="1049528"/>
                    <a:pt x="0" y="1019937"/>
                    <a:pt x="0" y="985139"/>
                  </a:cubicBezTo>
                  <a:lnTo>
                    <a:pt x="0" y="64389"/>
                  </a:lnTo>
                  <a:lnTo>
                    <a:pt x="12700" y="64389"/>
                  </a:lnTo>
                  <a:lnTo>
                    <a:pt x="0" y="64389"/>
                  </a:lnTo>
                  <a:moveTo>
                    <a:pt x="25400" y="64389"/>
                  </a:moveTo>
                  <a:lnTo>
                    <a:pt x="25400" y="985139"/>
                  </a:lnTo>
                  <a:lnTo>
                    <a:pt x="12700" y="985139"/>
                  </a:lnTo>
                  <a:lnTo>
                    <a:pt x="25400" y="985139"/>
                  </a:lnTo>
                  <a:cubicBezTo>
                    <a:pt x="25400" y="1007364"/>
                    <a:pt x="42291" y="1024128"/>
                    <a:pt x="61468" y="1024128"/>
                  </a:cubicBezTo>
                  <a:lnTo>
                    <a:pt x="256540" y="1024128"/>
                  </a:lnTo>
                  <a:cubicBezTo>
                    <a:pt x="275717" y="1024128"/>
                    <a:pt x="292608" y="1007364"/>
                    <a:pt x="292608" y="985139"/>
                  </a:cubicBezTo>
                  <a:lnTo>
                    <a:pt x="292608" y="64389"/>
                  </a:lnTo>
                  <a:cubicBezTo>
                    <a:pt x="292608" y="42164"/>
                    <a:pt x="275717" y="25400"/>
                    <a:pt x="256540" y="25400"/>
                  </a:cubicBezTo>
                  <a:lnTo>
                    <a:pt x="61468" y="25400"/>
                  </a:lnTo>
                  <a:lnTo>
                    <a:pt x="61468" y="12700"/>
                  </a:lnTo>
                  <a:lnTo>
                    <a:pt x="61468" y="25400"/>
                  </a:lnTo>
                  <a:cubicBezTo>
                    <a:pt x="42291" y="25400"/>
                    <a:pt x="25400" y="42164"/>
                    <a:pt x="25400" y="64389"/>
                  </a:cubicBezTo>
                  <a:close/>
                </a:path>
              </a:pathLst>
            </a:custGeom>
            <a:solidFill>
              <a:srgbClr val="E57373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3853160" y="6940296"/>
            <a:ext cx="2194560" cy="219456"/>
            <a:chOff x="0" y="0"/>
            <a:chExt cx="2926080" cy="29260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926080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292608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Narrative Risk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6075152" y="6940296"/>
            <a:ext cx="685800" cy="219456"/>
            <a:chOff x="0" y="0"/>
            <a:chExt cx="914400" cy="29260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14400" cy="292608"/>
            </a:xfrm>
            <a:custGeom>
              <a:avLst/>
              <a:gdLst/>
              <a:ahLst/>
              <a:cxnLst/>
              <a:rect r="r" b="b" t="t" l="l"/>
              <a:pathLst>
                <a:path h="292608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91440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D4A01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10%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3853160" y="7351776"/>
            <a:ext cx="2948940" cy="466344"/>
            <a:chOff x="0" y="0"/>
            <a:chExt cx="3931920" cy="62179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931920" cy="621792"/>
            </a:xfrm>
            <a:custGeom>
              <a:avLst/>
              <a:gdLst/>
              <a:ahLst/>
              <a:cxnLst/>
              <a:rect r="r" b="b" t="t" l="l"/>
              <a:pathLst>
                <a:path h="62179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14" r="0" b="-73214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3931920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sz="138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VADER sentiment and mention velocity spikes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87552" y="9573768"/>
            <a:ext cx="14401800" cy="246888"/>
            <a:chOff x="0" y="0"/>
            <a:chExt cx="19202400" cy="32918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9202400" cy="329184"/>
            </a:xfrm>
            <a:custGeom>
              <a:avLst/>
              <a:gdLst/>
              <a:ahLst/>
              <a:cxnLst/>
              <a:rect r="r" b="b" t="t" l="l"/>
              <a:pathLst>
                <a:path h="329184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27" r="0" b="-1086627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192024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i="true">
                  <a:solidFill>
                    <a:srgbClr val="666B76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The point is not more metrics — it is a consistent weighting system that converts six risk vectors into a capital allocation decision.</a:t>
              </a:r>
            </a:p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5749509" y="3182112"/>
            <a:ext cx="6820014" cy="4907145"/>
          </a:xfrm>
          <a:custGeom>
            <a:avLst/>
            <a:gdLst/>
            <a:ahLst/>
            <a:cxnLst/>
            <a:rect r="r" b="b" t="t" l="l"/>
            <a:pathLst>
              <a:path h="4907145" w="6820014">
                <a:moveTo>
                  <a:pt x="0" y="0"/>
                </a:moveTo>
                <a:lnTo>
                  <a:pt x="6820014" y="0"/>
                </a:lnTo>
                <a:lnTo>
                  <a:pt x="6820014" y="4907145"/>
                </a:lnTo>
                <a:lnTo>
                  <a:pt x="0" y="4907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602" t="-20059" r="-11147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5521274" y="2962656"/>
            <a:ext cx="7245453" cy="5060740"/>
          </a:xfrm>
          <a:custGeom>
            <a:avLst/>
            <a:gdLst/>
            <a:ahLst/>
            <a:cxnLst/>
            <a:rect r="r" b="b" t="t" l="l"/>
            <a:pathLst>
              <a:path h="5060740" w="7245453">
                <a:moveTo>
                  <a:pt x="0" y="0"/>
                </a:moveTo>
                <a:lnTo>
                  <a:pt x="7245452" y="0"/>
                </a:lnTo>
                <a:lnTo>
                  <a:pt x="7245452" y="5060740"/>
                </a:lnTo>
                <a:lnTo>
                  <a:pt x="0" y="50607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440" r="0" b="-10372"/>
            </a:stretch>
          </a:blipFill>
        </p:spPr>
      </p:sp>
      <p:sp>
        <p:nvSpPr>
          <p:cNvPr name="TextBox 110" id="110"/>
          <p:cNvSpPr txBox="true"/>
          <p:nvPr/>
        </p:nvSpPr>
        <p:spPr>
          <a:xfrm rot="0">
            <a:off x="5908410" y="207264"/>
            <a:ext cx="5455816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40"/>
              </a:lnSpc>
              <a:spcBef>
                <a:spcPct val="0"/>
              </a:spcBef>
            </a:pPr>
            <a:r>
              <a:rPr lang="en-US" b="true" sz="9200" strike="noStrike" u="none">
                <a:solidFill>
                  <a:srgbClr val="202124"/>
                </a:solidFill>
                <a:latin typeface="Aptos Bold"/>
                <a:ea typeface="Aptos Bold"/>
                <a:cs typeface="Aptos Bold"/>
                <a:sym typeface="Aptos Bold"/>
              </a:rPr>
              <a:t>Six Pillars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49675" y="100203"/>
            <a:ext cx="1253490" cy="1253490"/>
            <a:chOff x="0" y="0"/>
            <a:chExt cx="1671320" cy="16713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A7C7E7">
                <a:alpha val="745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16019" y="566547"/>
            <a:ext cx="348234" cy="348234"/>
            <a:chOff x="0" y="0"/>
            <a:chExt cx="464312" cy="4643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1270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3435" y="511683"/>
            <a:ext cx="1322070" cy="403098"/>
            <a:chOff x="0" y="0"/>
            <a:chExt cx="1762760" cy="537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2700"/>
              <a:ext cx="1737360" cy="512064"/>
            </a:xfrm>
            <a:custGeom>
              <a:avLst/>
              <a:gdLst/>
              <a:ahLst/>
              <a:cxnLst/>
              <a:rect r="r" b="b" t="t" l="l"/>
              <a:pathLst>
                <a:path h="512064" w="1737360">
                  <a:moveTo>
                    <a:pt x="0" y="146304"/>
                  </a:moveTo>
                  <a:cubicBezTo>
                    <a:pt x="0" y="65532"/>
                    <a:pt x="67818" y="0"/>
                    <a:pt x="151384" y="0"/>
                  </a:cubicBezTo>
                  <a:lnTo>
                    <a:pt x="1585976" y="0"/>
                  </a:lnTo>
                  <a:cubicBezTo>
                    <a:pt x="1669542" y="0"/>
                    <a:pt x="1737360" y="65532"/>
                    <a:pt x="1737360" y="146304"/>
                  </a:cubicBezTo>
                  <a:lnTo>
                    <a:pt x="1737360" y="365760"/>
                  </a:lnTo>
                  <a:cubicBezTo>
                    <a:pt x="1737360" y="446532"/>
                    <a:pt x="1669542" y="512064"/>
                    <a:pt x="1585976" y="512064"/>
                  </a:cubicBezTo>
                  <a:lnTo>
                    <a:pt x="151384" y="512064"/>
                  </a:lnTo>
                  <a:cubicBezTo>
                    <a:pt x="67818" y="512064"/>
                    <a:pt x="0" y="446532"/>
                    <a:pt x="0" y="365760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2760" cy="537464"/>
            </a:xfrm>
            <a:custGeom>
              <a:avLst/>
              <a:gdLst/>
              <a:ahLst/>
              <a:cxnLst/>
              <a:rect r="r" b="b" t="t" l="l"/>
              <a:pathLst>
                <a:path h="537464" w="1762760">
                  <a:moveTo>
                    <a:pt x="0" y="159004"/>
                  </a:moveTo>
                  <a:cubicBezTo>
                    <a:pt x="0" y="70739"/>
                    <a:pt x="73914" y="0"/>
                    <a:pt x="164084" y="0"/>
                  </a:cubicBezTo>
                  <a:lnTo>
                    <a:pt x="1598676" y="0"/>
                  </a:lnTo>
                  <a:lnTo>
                    <a:pt x="1598676" y="12700"/>
                  </a:lnTo>
                  <a:lnTo>
                    <a:pt x="1598676" y="0"/>
                  </a:lnTo>
                  <a:cubicBezTo>
                    <a:pt x="1688846" y="0"/>
                    <a:pt x="1762760" y="70739"/>
                    <a:pt x="1762760" y="159004"/>
                  </a:cubicBezTo>
                  <a:lnTo>
                    <a:pt x="1750060" y="159004"/>
                  </a:lnTo>
                  <a:lnTo>
                    <a:pt x="1762760" y="159004"/>
                  </a:lnTo>
                  <a:lnTo>
                    <a:pt x="1762760" y="378460"/>
                  </a:lnTo>
                  <a:lnTo>
                    <a:pt x="1750060" y="378460"/>
                  </a:lnTo>
                  <a:lnTo>
                    <a:pt x="1762760" y="378460"/>
                  </a:lnTo>
                  <a:cubicBezTo>
                    <a:pt x="1762760" y="466725"/>
                    <a:pt x="1688846" y="537464"/>
                    <a:pt x="1598676" y="537464"/>
                  </a:cubicBezTo>
                  <a:lnTo>
                    <a:pt x="1598676" y="524764"/>
                  </a:lnTo>
                  <a:lnTo>
                    <a:pt x="1598676" y="537464"/>
                  </a:lnTo>
                  <a:lnTo>
                    <a:pt x="164084" y="537464"/>
                  </a:lnTo>
                  <a:lnTo>
                    <a:pt x="164084" y="524764"/>
                  </a:lnTo>
                  <a:lnTo>
                    <a:pt x="164084" y="537464"/>
                  </a:lnTo>
                  <a:cubicBezTo>
                    <a:pt x="73914" y="537464"/>
                    <a:pt x="0" y="466725"/>
                    <a:pt x="0" y="378460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378460"/>
                  </a:lnTo>
                  <a:lnTo>
                    <a:pt x="12700" y="378460"/>
                  </a:lnTo>
                  <a:lnTo>
                    <a:pt x="25400" y="378460"/>
                  </a:lnTo>
                  <a:cubicBezTo>
                    <a:pt x="25400" y="451866"/>
                    <a:pt x="87122" y="512064"/>
                    <a:pt x="164084" y="512064"/>
                  </a:cubicBezTo>
                  <a:lnTo>
                    <a:pt x="1598676" y="512064"/>
                  </a:lnTo>
                  <a:cubicBezTo>
                    <a:pt x="1675638" y="512064"/>
                    <a:pt x="1737360" y="451866"/>
                    <a:pt x="1737360" y="378460"/>
                  </a:cubicBezTo>
                  <a:lnTo>
                    <a:pt x="1737360" y="159004"/>
                  </a:lnTo>
                  <a:cubicBezTo>
                    <a:pt x="1737360" y="85598"/>
                    <a:pt x="1675638" y="25400"/>
                    <a:pt x="1598676" y="25400"/>
                  </a:cubicBezTo>
                  <a:lnTo>
                    <a:pt x="164084" y="25400"/>
                  </a:lnTo>
                  <a:lnTo>
                    <a:pt x="164084" y="12700"/>
                  </a:lnTo>
                  <a:lnTo>
                    <a:pt x="164084" y="25400"/>
                  </a:lnTo>
                  <a:cubicBezTo>
                    <a:pt x="87122" y="25400"/>
                    <a:pt x="25400" y="85598"/>
                    <a:pt x="25400" y="159004"/>
                  </a:cubicBez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1268" y="582930"/>
            <a:ext cx="960120" cy="219456"/>
            <a:chOff x="0" y="0"/>
            <a:chExt cx="1280160" cy="2926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0" cy="292608"/>
            </a:xfrm>
            <a:custGeom>
              <a:avLst/>
              <a:gdLst/>
              <a:ahLst/>
              <a:cxnLst/>
              <a:rect r="r" b="b" t="t" l="l"/>
              <a:pathLst>
                <a:path h="292608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7" r="0" b="-3524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2801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PRISM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39260" y="9601200"/>
            <a:ext cx="617220" cy="274320"/>
            <a:chOff x="0" y="0"/>
            <a:chExt cx="822960" cy="365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2960" cy="365760"/>
            </a:xfrm>
            <a:custGeom>
              <a:avLst/>
              <a:gdLst/>
              <a:ahLst/>
              <a:cxnLst/>
              <a:rect r="r" b="b" t="t" l="l"/>
              <a:pathLst>
                <a:path h="3657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82296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07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0392" y="1124712"/>
            <a:ext cx="10698480" cy="493776"/>
            <a:chOff x="0" y="0"/>
            <a:chExt cx="14264640" cy="6583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64639" cy="658368"/>
            </a:xfrm>
            <a:custGeom>
              <a:avLst/>
              <a:gdLst/>
              <a:ahLst/>
              <a:cxnLst/>
              <a:rect r="r" b="b" t="t" l="l"/>
              <a:pathLst>
                <a:path h="658368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4264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Stress Lab: “What happens if ETH drops 20%?”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0392" y="1687068"/>
            <a:ext cx="9326880" cy="274320"/>
            <a:chOff x="0" y="0"/>
            <a:chExt cx="12435840" cy="365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35840" cy="365760"/>
            </a:xfrm>
            <a:custGeom>
              <a:avLst/>
              <a:gdLst/>
              <a:ahLst/>
              <a:cxnLst/>
              <a:rect r="r" b="b" t="t" l="l"/>
              <a:pathLst>
                <a:path h="3657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24358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D9BCB"/>
                  </a:solidFill>
                  <a:latin typeface="Aptos"/>
                  <a:ea typeface="Aptos"/>
                  <a:cs typeface="Aptos"/>
                  <a:sym typeface="Aptos"/>
                </a:rPr>
                <a:t>A four-act cascade makes fragility visible before the market forces the answer.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82015" y="2686412"/>
            <a:ext cx="2145030" cy="1322070"/>
            <a:chOff x="0" y="0"/>
            <a:chExt cx="2860040" cy="1762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283464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834640">
                  <a:moveTo>
                    <a:pt x="0" y="146304"/>
                  </a:moveTo>
                  <a:cubicBezTo>
                    <a:pt x="0" y="65532"/>
                    <a:pt x="65913" y="0"/>
                    <a:pt x="147066" y="0"/>
                  </a:cubicBezTo>
                  <a:lnTo>
                    <a:pt x="2687574" y="0"/>
                  </a:lnTo>
                  <a:cubicBezTo>
                    <a:pt x="2768854" y="0"/>
                    <a:pt x="2834640" y="65532"/>
                    <a:pt x="2834640" y="146304"/>
                  </a:cubicBezTo>
                  <a:lnTo>
                    <a:pt x="2834640" y="1591056"/>
                  </a:lnTo>
                  <a:cubicBezTo>
                    <a:pt x="2834640" y="1671828"/>
                    <a:pt x="2768727" y="1737360"/>
                    <a:pt x="2687574" y="1737360"/>
                  </a:cubicBezTo>
                  <a:lnTo>
                    <a:pt x="147066" y="1737360"/>
                  </a:lnTo>
                  <a:cubicBezTo>
                    <a:pt x="65913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FFF1DB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60040" cy="1762760"/>
            </a:xfrm>
            <a:custGeom>
              <a:avLst/>
              <a:gdLst/>
              <a:ahLst/>
              <a:cxnLst/>
              <a:rect r="r" b="b" t="t" l="l"/>
              <a:pathLst>
                <a:path h="1762760" w="2860040">
                  <a:moveTo>
                    <a:pt x="0" y="159004"/>
                  </a:moveTo>
                  <a:cubicBezTo>
                    <a:pt x="0" y="71120"/>
                    <a:pt x="71628" y="0"/>
                    <a:pt x="159766" y="0"/>
                  </a:cubicBezTo>
                  <a:lnTo>
                    <a:pt x="2700274" y="0"/>
                  </a:lnTo>
                  <a:lnTo>
                    <a:pt x="2700274" y="12700"/>
                  </a:lnTo>
                  <a:lnTo>
                    <a:pt x="2700274" y="0"/>
                  </a:lnTo>
                  <a:cubicBezTo>
                    <a:pt x="2788412" y="0"/>
                    <a:pt x="2860040" y="71120"/>
                    <a:pt x="2860040" y="159004"/>
                  </a:cubicBezTo>
                  <a:lnTo>
                    <a:pt x="2860040" y="1603756"/>
                  </a:lnTo>
                  <a:lnTo>
                    <a:pt x="2847340" y="1603756"/>
                  </a:lnTo>
                  <a:lnTo>
                    <a:pt x="2860040" y="1603756"/>
                  </a:lnTo>
                  <a:cubicBezTo>
                    <a:pt x="2860040" y="1691640"/>
                    <a:pt x="2788412" y="1762760"/>
                    <a:pt x="2700274" y="1762760"/>
                  </a:cubicBezTo>
                  <a:lnTo>
                    <a:pt x="2700274" y="1750060"/>
                  </a:lnTo>
                  <a:lnTo>
                    <a:pt x="2700274" y="1762760"/>
                  </a:lnTo>
                  <a:lnTo>
                    <a:pt x="159766" y="1762760"/>
                  </a:lnTo>
                  <a:lnTo>
                    <a:pt x="159766" y="1750060"/>
                  </a:lnTo>
                  <a:lnTo>
                    <a:pt x="159766" y="1762760"/>
                  </a:lnTo>
                  <a:cubicBezTo>
                    <a:pt x="71628" y="1762760"/>
                    <a:pt x="0" y="1691640"/>
                    <a:pt x="0" y="16037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1603756"/>
                  </a:lnTo>
                  <a:lnTo>
                    <a:pt x="12700" y="1603756"/>
                  </a:lnTo>
                  <a:lnTo>
                    <a:pt x="25400" y="1603756"/>
                  </a:lnTo>
                  <a:cubicBezTo>
                    <a:pt x="25400" y="1677416"/>
                    <a:pt x="85471" y="1737360"/>
                    <a:pt x="159766" y="1737360"/>
                  </a:cubicBezTo>
                  <a:lnTo>
                    <a:pt x="2700274" y="1737360"/>
                  </a:lnTo>
                  <a:cubicBezTo>
                    <a:pt x="2774569" y="1737360"/>
                    <a:pt x="2834640" y="1677416"/>
                    <a:pt x="2834640" y="1603756"/>
                  </a:cubicBezTo>
                  <a:lnTo>
                    <a:pt x="2834640" y="159004"/>
                  </a:lnTo>
                  <a:lnTo>
                    <a:pt x="2847340" y="159004"/>
                  </a:lnTo>
                  <a:lnTo>
                    <a:pt x="2834640" y="159004"/>
                  </a:lnTo>
                  <a:cubicBezTo>
                    <a:pt x="2834640" y="85344"/>
                    <a:pt x="2774569" y="25400"/>
                    <a:pt x="2700274" y="25400"/>
                  </a:cubicBezTo>
                  <a:lnTo>
                    <a:pt x="159766" y="25400"/>
                  </a:lnTo>
                  <a:lnTo>
                    <a:pt x="159766" y="12700"/>
                  </a:lnTo>
                  <a:lnTo>
                    <a:pt x="159766" y="25400"/>
                  </a:lnTo>
                  <a:cubicBezTo>
                    <a:pt x="85471" y="25400"/>
                    <a:pt x="25400" y="85344"/>
                    <a:pt x="25400" y="159004"/>
                  </a:cubicBezTo>
                  <a:close/>
                </a:path>
              </a:pathLst>
            </a:custGeom>
            <a:solidFill>
              <a:srgbClr val="F2B76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8639" y="2695937"/>
            <a:ext cx="1721406" cy="824074"/>
            <a:chOff x="0" y="0"/>
            <a:chExt cx="2295208" cy="109876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95212" cy="1098764"/>
            </a:xfrm>
            <a:custGeom>
              <a:avLst/>
              <a:gdLst/>
              <a:ahLst/>
              <a:cxnLst/>
              <a:rect r="r" b="b" t="t" l="l"/>
              <a:pathLst>
                <a:path h="1098764" w="2295212">
                  <a:moveTo>
                    <a:pt x="0" y="0"/>
                  </a:moveTo>
                  <a:lnTo>
                    <a:pt x="2295212" y="0"/>
                  </a:lnTo>
                  <a:lnTo>
                    <a:pt x="2295212" y="1098764"/>
                  </a:lnTo>
                  <a:lnTo>
                    <a:pt x="0" y="1098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421" t="0" r="-11421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295208" cy="10987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</a:p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2B7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ETH -20%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0148" y="3642893"/>
            <a:ext cx="1097280" cy="233172"/>
            <a:chOff x="0" y="0"/>
            <a:chExt cx="1463040" cy="3108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" cy="310896"/>
            </a:xfrm>
            <a:custGeom>
              <a:avLst/>
              <a:gdLst/>
              <a:ahLst/>
              <a:cxnLst/>
              <a:rect r="r" b="b" t="t" l="l"/>
              <a:pathLst>
                <a:path h="3108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694" r="0" b="-4169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463040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1-click shock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117723" y="3323463"/>
            <a:ext cx="348234" cy="19050"/>
            <a:chOff x="0" y="0"/>
            <a:chExt cx="464312" cy="25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00" y="0"/>
              <a:ext cx="438912" cy="25400"/>
            </a:xfrm>
            <a:custGeom>
              <a:avLst/>
              <a:gdLst/>
              <a:ahLst/>
              <a:cxnLst/>
              <a:rect r="r" b="b" t="t" l="l"/>
              <a:pathLst>
                <a:path h="254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556635" y="2665095"/>
            <a:ext cx="2693670" cy="2693670"/>
            <a:chOff x="0" y="0"/>
            <a:chExt cx="3591560" cy="35915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3566160" cy="3566160"/>
            </a:xfrm>
            <a:custGeom>
              <a:avLst/>
              <a:gdLst/>
              <a:ahLst/>
              <a:cxnLst/>
              <a:rect r="r" b="b" t="t" l="l"/>
              <a:pathLst>
                <a:path h="3566160" w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19856" y="0"/>
                  </a:lnTo>
                  <a:cubicBezTo>
                    <a:pt x="3500628" y="0"/>
                    <a:pt x="3566160" y="65532"/>
                    <a:pt x="3566160" y="146304"/>
                  </a:cubicBezTo>
                  <a:lnTo>
                    <a:pt x="3566160" y="3419856"/>
                  </a:lnTo>
                  <a:cubicBezTo>
                    <a:pt x="3566160" y="3500628"/>
                    <a:pt x="3500628" y="3566160"/>
                    <a:pt x="341985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1560" cy="3591560"/>
            </a:xfrm>
            <a:custGeom>
              <a:avLst/>
              <a:gdLst/>
              <a:ahLst/>
              <a:cxnLst/>
              <a:rect r="r" b="b" t="t" l="l"/>
              <a:pathLst>
                <a:path h="3591560" w="3591560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lnTo>
                    <a:pt x="3432556" y="0"/>
                  </a:lnTo>
                  <a:lnTo>
                    <a:pt x="3432556" y="12700"/>
                  </a:lnTo>
                  <a:lnTo>
                    <a:pt x="3432556" y="0"/>
                  </a:lnTo>
                  <a:cubicBezTo>
                    <a:pt x="3520440" y="0"/>
                    <a:pt x="3591560" y="71247"/>
                    <a:pt x="3591560" y="159004"/>
                  </a:cubicBezTo>
                  <a:lnTo>
                    <a:pt x="3578860" y="159004"/>
                  </a:lnTo>
                  <a:lnTo>
                    <a:pt x="3591560" y="159004"/>
                  </a:lnTo>
                  <a:lnTo>
                    <a:pt x="3591560" y="3432556"/>
                  </a:lnTo>
                  <a:lnTo>
                    <a:pt x="3578860" y="3432556"/>
                  </a:lnTo>
                  <a:lnTo>
                    <a:pt x="3591560" y="3432556"/>
                  </a:lnTo>
                  <a:cubicBezTo>
                    <a:pt x="3591560" y="3520440"/>
                    <a:pt x="3520313" y="3591560"/>
                    <a:pt x="3432556" y="3591560"/>
                  </a:cubicBezTo>
                  <a:lnTo>
                    <a:pt x="3432556" y="3578860"/>
                  </a:lnTo>
                  <a:lnTo>
                    <a:pt x="3432556" y="3591560"/>
                  </a:lnTo>
                  <a:lnTo>
                    <a:pt x="159004" y="3591560"/>
                  </a:lnTo>
                  <a:lnTo>
                    <a:pt x="159004" y="3578860"/>
                  </a:lnTo>
                  <a:lnTo>
                    <a:pt x="159004" y="3591560"/>
                  </a:lnTo>
                  <a:cubicBezTo>
                    <a:pt x="71247" y="3591560"/>
                    <a:pt x="0" y="3520313"/>
                    <a:pt x="0" y="34325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3432556"/>
                  </a:lnTo>
                  <a:lnTo>
                    <a:pt x="12700" y="3432556"/>
                  </a:lnTo>
                  <a:lnTo>
                    <a:pt x="25400" y="3432556"/>
                  </a:lnTo>
                  <a:cubicBezTo>
                    <a:pt x="25400" y="3506343"/>
                    <a:pt x="85217" y="3566160"/>
                    <a:pt x="159004" y="3566160"/>
                  </a:cubicBezTo>
                  <a:lnTo>
                    <a:pt x="3432556" y="3566160"/>
                  </a:lnTo>
                  <a:cubicBezTo>
                    <a:pt x="3506343" y="3566160"/>
                    <a:pt x="3566160" y="3506343"/>
                    <a:pt x="3566160" y="3432556"/>
                  </a:cubicBezTo>
                  <a:lnTo>
                    <a:pt x="3566160" y="159004"/>
                  </a:lnTo>
                  <a:cubicBezTo>
                    <a:pt x="3566160" y="85217"/>
                    <a:pt x="3506343" y="25400"/>
                    <a:pt x="343255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556635" y="2665095"/>
            <a:ext cx="2693670" cy="211074"/>
            <a:chOff x="0" y="0"/>
            <a:chExt cx="3591560" cy="2814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3566160" cy="256032"/>
            </a:xfrm>
            <a:custGeom>
              <a:avLst/>
              <a:gdLst/>
              <a:ahLst/>
              <a:cxnLst/>
              <a:rect r="r" b="b" t="t" l="l"/>
              <a:pathLst>
                <a:path h="25603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A7C7E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91560" cy="281432"/>
            </a:xfrm>
            <a:custGeom>
              <a:avLst/>
              <a:gdLst/>
              <a:ahLst/>
              <a:cxnLst/>
              <a:rect r="r" b="b" t="t" l="l"/>
              <a:pathLst>
                <a:path h="281432" w="3591560">
                  <a:moveTo>
                    <a:pt x="12700" y="0"/>
                  </a:moveTo>
                  <a:lnTo>
                    <a:pt x="3578860" y="0"/>
                  </a:lnTo>
                  <a:cubicBezTo>
                    <a:pt x="3585845" y="0"/>
                    <a:pt x="3591560" y="5715"/>
                    <a:pt x="3591560" y="12700"/>
                  </a:cubicBezTo>
                  <a:lnTo>
                    <a:pt x="3591560" y="268732"/>
                  </a:lnTo>
                  <a:cubicBezTo>
                    <a:pt x="3591560" y="275717"/>
                    <a:pt x="3585845" y="281432"/>
                    <a:pt x="3578860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3578860" y="256032"/>
                  </a:lnTo>
                  <a:lnTo>
                    <a:pt x="3578860" y="268732"/>
                  </a:lnTo>
                  <a:lnTo>
                    <a:pt x="3566160" y="268732"/>
                  </a:lnTo>
                  <a:lnTo>
                    <a:pt x="3566160" y="12700"/>
                  </a:lnTo>
                  <a:lnTo>
                    <a:pt x="3578860" y="12700"/>
                  </a:lnTo>
                  <a:lnTo>
                    <a:pt x="35788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A7C7E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730752" y="2976372"/>
            <a:ext cx="2345436" cy="274320"/>
            <a:chOff x="0" y="0"/>
            <a:chExt cx="3127248" cy="365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27248" cy="365760"/>
            </a:xfrm>
            <a:custGeom>
              <a:avLst/>
              <a:gdLst/>
              <a:ahLst/>
              <a:cxnLst/>
              <a:rect r="r" b="b" t="t" l="l"/>
              <a:pathLst>
                <a:path h="365760" w="3127248">
                  <a:moveTo>
                    <a:pt x="0" y="0"/>
                  </a:moveTo>
                  <a:lnTo>
                    <a:pt x="3127248" y="0"/>
                  </a:lnTo>
                  <a:lnTo>
                    <a:pt x="31272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597" r="0" b="-11659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3127248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Bridge Outflow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730752" y="3360420"/>
            <a:ext cx="2345436" cy="493776"/>
            <a:chOff x="0" y="0"/>
            <a:chExt cx="3127248" cy="6583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27248" cy="658368"/>
            </a:xfrm>
            <a:custGeom>
              <a:avLst/>
              <a:gdLst/>
              <a:ahLst/>
              <a:cxnLst/>
              <a:rect r="r" b="b" t="t" l="l"/>
              <a:pathLst>
                <a:path h="658368" w="3127248">
                  <a:moveTo>
                    <a:pt x="0" y="0"/>
                  </a:moveTo>
                  <a:lnTo>
                    <a:pt x="3127248" y="0"/>
                  </a:lnTo>
                  <a:lnTo>
                    <a:pt x="312724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127248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Users bridge to safety, depth thins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730752" y="4869180"/>
            <a:ext cx="2345436" cy="219456"/>
            <a:chOff x="0" y="0"/>
            <a:chExt cx="3127248" cy="2926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27248" cy="292608"/>
            </a:xfrm>
            <a:custGeom>
              <a:avLst/>
              <a:gdLst/>
              <a:ahLst/>
              <a:cxnLst/>
              <a:rect r="r" b="b" t="t" l="l"/>
              <a:pathLst>
                <a:path h="292608" w="3127248">
                  <a:moveTo>
                    <a:pt x="0" y="0"/>
                  </a:moveTo>
                  <a:lnTo>
                    <a:pt x="3127248" y="0"/>
                  </a:lnTo>
                  <a:lnTo>
                    <a:pt x="312724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246" r="0" b="-15824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127248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7C7E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82 → 71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094095" y="3323463"/>
            <a:ext cx="595122" cy="19050"/>
            <a:chOff x="0" y="0"/>
            <a:chExt cx="793496" cy="25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0"/>
              <a:ext cx="768096" cy="25400"/>
            </a:xfrm>
            <a:custGeom>
              <a:avLst/>
              <a:gdLst/>
              <a:ahLst/>
              <a:cxnLst/>
              <a:rect r="r" b="b" t="t" l="l"/>
              <a:pathLst>
                <a:path h="25400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779895" y="2665095"/>
            <a:ext cx="2693670" cy="2693670"/>
            <a:chOff x="0" y="0"/>
            <a:chExt cx="3591560" cy="35915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2700" y="12700"/>
              <a:ext cx="3566160" cy="3566160"/>
            </a:xfrm>
            <a:custGeom>
              <a:avLst/>
              <a:gdLst/>
              <a:ahLst/>
              <a:cxnLst/>
              <a:rect r="r" b="b" t="t" l="l"/>
              <a:pathLst>
                <a:path h="3566160" w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19856" y="0"/>
                  </a:lnTo>
                  <a:cubicBezTo>
                    <a:pt x="3500628" y="0"/>
                    <a:pt x="3566160" y="65532"/>
                    <a:pt x="3566160" y="146304"/>
                  </a:cubicBezTo>
                  <a:lnTo>
                    <a:pt x="3566160" y="3419856"/>
                  </a:lnTo>
                  <a:cubicBezTo>
                    <a:pt x="3566160" y="3500628"/>
                    <a:pt x="3500628" y="3566160"/>
                    <a:pt x="341985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91560" cy="3591560"/>
            </a:xfrm>
            <a:custGeom>
              <a:avLst/>
              <a:gdLst/>
              <a:ahLst/>
              <a:cxnLst/>
              <a:rect r="r" b="b" t="t" l="l"/>
              <a:pathLst>
                <a:path h="3591560" w="3591560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lnTo>
                    <a:pt x="3432556" y="0"/>
                  </a:lnTo>
                  <a:lnTo>
                    <a:pt x="3432556" y="12700"/>
                  </a:lnTo>
                  <a:lnTo>
                    <a:pt x="3432556" y="0"/>
                  </a:lnTo>
                  <a:cubicBezTo>
                    <a:pt x="3520440" y="0"/>
                    <a:pt x="3591560" y="71247"/>
                    <a:pt x="3591560" y="159004"/>
                  </a:cubicBezTo>
                  <a:lnTo>
                    <a:pt x="3578860" y="159004"/>
                  </a:lnTo>
                  <a:lnTo>
                    <a:pt x="3591560" y="159004"/>
                  </a:lnTo>
                  <a:lnTo>
                    <a:pt x="3591560" y="3432556"/>
                  </a:lnTo>
                  <a:lnTo>
                    <a:pt x="3578860" y="3432556"/>
                  </a:lnTo>
                  <a:lnTo>
                    <a:pt x="3591560" y="3432556"/>
                  </a:lnTo>
                  <a:cubicBezTo>
                    <a:pt x="3591560" y="3520440"/>
                    <a:pt x="3520313" y="3591560"/>
                    <a:pt x="3432556" y="3591560"/>
                  </a:cubicBezTo>
                  <a:lnTo>
                    <a:pt x="3432556" y="3578860"/>
                  </a:lnTo>
                  <a:lnTo>
                    <a:pt x="3432556" y="3591560"/>
                  </a:lnTo>
                  <a:lnTo>
                    <a:pt x="159004" y="3591560"/>
                  </a:lnTo>
                  <a:lnTo>
                    <a:pt x="159004" y="3578860"/>
                  </a:lnTo>
                  <a:lnTo>
                    <a:pt x="159004" y="3591560"/>
                  </a:lnTo>
                  <a:cubicBezTo>
                    <a:pt x="71247" y="3591560"/>
                    <a:pt x="0" y="3520313"/>
                    <a:pt x="0" y="34325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3432556"/>
                  </a:lnTo>
                  <a:lnTo>
                    <a:pt x="12700" y="3432556"/>
                  </a:lnTo>
                  <a:lnTo>
                    <a:pt x="25400" y="3432556"/>
                  </a:lnTo>
                  <a:cubicBezTo>
                    <a:pt x="25400" y="3506343"/>
                    <a:pt x="85217" y="3566160"/>
                    <a:pt x="159004" y="3566160"/>
                  </a:cubicBezTo>
                  <a:lnTo>
                    <a:pt x="3432556" y="3566160"/>
                  </a:lnTo>
                  <a:cubicBezTo>
                    <a:pt x="3506343" y="3566160"/>
                    <a:pt x="3566160" y="3506343"/>
                    <a:pt x="3566160" y="3432556"/>
                  </a:cubicBezTo>
                  <a:lnTo>
                    <a:pt x="3566160" y="159004"/>
                  </a:lnTo>
                  <a:cubicBezTo>
                    <a:pt x="3566160" y="85217"/>
                    <a:pt x="3506343" y="25400"/>
                    <a:pt x="343255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779895" y="2665095"/>
            <a:ext cx="2693670" cy="211074"/>
            <a:chOff x="0" y="0"/>
            <a:chExt cx="3591560" cy="28143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3566160" cy="256032"/>
            </a:xfrm>
            <a:custGeom>
              <a:avLst/>
              <a:gdLst/>
              <a:ahLst/>
              <a:cxnLst/>
              <a:rect r="r" b="b" t="t" l="l"/>
              <a:pathLst>
                <a:path h="25603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D4A017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591560" cy="281432"/>
            </a:xfrm>
            <a:custGeom>
              <a:avLst/>
              <a:gdLst/>
              <a:ahLst/>
              <a:cxnLst/>
              <a:rect r="r" b="b" t="t" l="l"/>
              <a:pathLst>
                <a:path h="281432" w="3591560">
                  <a:moveTo>
                    <a:pt x="12700" y="0"/>
                  </a:moveTo>
                  <a:lnTo>
                    <a:pt x="3578860" y="0"/>
                  </a:lnTo>
                  <a:cubicBezTo>
                    <a:pt x="3585845" y="0"/>
                    <a:pt x="3591560" y="5715"/>
                    <a:pt x="3591560" y="12700"/>
                  </a:cubicBezTo>
                  <a:lnTo>
                    <a:pt x="3591560" y="268732"/>
                  </a:lnTo>
                  <a:cubicBezTo>
                    <a:pt x="3591560" y="275717"/>
                    <a:pt x="3585845" y="281432"/>
                    <a:pt x="3578860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3578860" y="256032"/>
                  </a:lnTo>
                  <a:lnTo>
                    <a:pt x="3578860" y="268732"/>
                  </a:lnTo>
                  <a:lnTo>
                    <a:pt x="3566160" y="268732"/>
                  </a:lnTo>
                  <a:lnTo>
                    <a:pt x="3566160" y="12700"/>
                  </a:lnTo>
                  <a:lnTo>
                    <a:pt x="3578860" y="12700"/>
                  </a:lnTo>
                  <a:lnTo>
                    <a:pt x="35788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D4A017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954012" y="2976372"/>
            <a:ext cx="2345436" cy="274320"/>
            <a:chOff x="0" y="0"/>
            <a:chExt cx="3127248" cy="3657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127248" cy="365760"/>
            </a:xfrm>
            <a:custGeom>
              <a:avLst/>
              <a:gdLst/>
              <a:ahLst/>
              <a:cxnLst/>
              <a:rect r="r" b="b" t="t" l="l"/>
              <a:pathLst>
                <a:path h="365760" w="3127248">
                  <a:moveTo>
                    <a:pt x="0" y="0"/>
                  </a:moveTo>
                  <a:lnTo>
                    <a:pt x="3127248" y="0"/>
                  </a:lnTo>
                  <a:lnTo>
                    <a:pt x="31272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597" r="0" b="-11659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3127248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Whale Exit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954012" y="3360420"/>
            <a:ext cx="2345436" cy="493776"/>
            <a:chOff x="0" y="0"/>
            <a:chExt cx="3127248" cy="6583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127248" cy="658368"/>
            </a:xfrm>
            <a:custGeom>
              <a:avLst/>
              <a:gdLst/>
              <a:ahLst/>
              <a:cxnLst/>
              <a:rect r="r" b="b" t="t" l="l"/>
              <a:pathLst>
                <a:path h="658368" w="3127248">
                  <a:moveTo>
                    <a:pt x="0" y="0"/>
                  </a:moveTo>
                  <a:lnTo>
                    <a:pt x="3127248" y="0"/>
                  </a:lnTo>
                  <a:lnTo>
                    <a:pt x="312724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3127248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Large LPs withdraw, slippage widens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954012" y="4869180"/>
            <a:ext cx="2345436" cy="219456"/>
            <a:chOff x="0" y="0"/>
            <a:chExt cx="3127248" cy="29260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127248" cy="292608"/>
            </a:xfrm>
            <a:custGeom>
              <a:avLst/>
              <a:gdLst/>
              <a:ahLst/>
              <a:cxnLst/>
              <a:rect r="r" b="b" t="t" l="l"/>
              <a:pathLst>
                <a:path h="292608" w="3127248">
                  <a:moveTo>
                    <a:pt x="0" y="0"/>
                  </a:moveTo>
                  <a:lnTo>
                    <a:pt x="3127248" y="0"/>
                  </a:lnTo>
                  <a:lnTo>
                    <a:pt x="312724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246" r="0" b="-15824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3127248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D4A01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71 → 58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317355" y="3323463"/>
            <a:ext cx="595122" cy="19050"/>
            <a:chOff x="0" y="0"/>
            <a:chExt cx="793496" cy="25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0"/>
              <a:ext cx="768096" cy="25400"/>
            </a:xfrm>
            <a:custGeom>
              <a:avLst/>
              <a:gdLst/>
              <a:ahLst/>
              <a:cxnLst/>
              <a:rect r="r" b="b" t="t" l="l"/>
              <a:pathLst>
                <a:path h="25400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003155" y="2665095"/>
            <a:ext cx="2693670" cy="2693670"/>
            <a:chOff x="0" y="0"/>
            <a:chExt cx="3591560" cy="35915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2700" y="12700"/>
              <a:ext cx="3566160" cy="3566160"/>
            </a:xfrm>
            <a:custGeom>
              <a:avLst/>
              <a:gdLst/>
              <a:ahLst/>
              <a:cxnLst/>
              <a:rect r="r" b="b" t="t" l="l"/>
              <a:pathLst>
                <a:path h="3566160" w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19856" y="0"/>
                  </a:lnTo>
                  <a:cubicBezTo>
                    <a:pt x="3500628" y="0"/>
                    <a:pt x="3566160" y="65532"/>
                    <a:pt x="3566160" y="146304"/>
                  </a:cubicBezTo>
                  <a:lnTo>
                    <a:pt x="3566160" y="3419856"/>
                  </a:lnTo>
                  <a:cubicBezTo>
                    <a:pt x="3566160" y="3500628"/>
                    <a:pt x="3500628" y="3566160"/>
                    <a:pt x="341985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591560" cy="3591560"/>
            </a:xfrm>
            <a:custGeom>
              <a:avLst/>
              <a:gdLst/>
              <a:ahLst/>
              <a:cxnLst/>
              <a:rect r="r" b="b" t="t" l="l"/>
              <a:pathLst>
                <a:path h="3591560" w="3591560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lnTo>
                    <a:pt x="3432556" y="0"/>
                  </a:lnTo>
                  <a:lnTo>
                    <a:pt x="3432556" y="12700"/>
                  </a:lnTo>
                  <a:lnTo>
                    <a:pt x="3432556" y="0"/>
                  </a:lnTo>
                  <a:cubicBezTo>
                    <a:pt x="3520440" y="0"/>
                    <a:pt x="3591560" y="71247"/>
                    <a:pt x="3591560" y="159004"/>
                  </a:cubicBezTo>
                  <a:lnTo>
                    <a:pt x="3578860" y="159004"/>
                  </a:lnTo>
                  <a:lnTo>
                    <a:pt x="3591560" y="159004"/>
                  </a:lnTo>
                  <a:lnTo>
                    <a:pt x="3591560" y="3432556"/>
                  </a:lnTo>
                  <a:lnTo>
                    <a:pt x="3578860" y="3432556"/>
                  </a:lnTo>
                  <a:lnTo>
                    <a:pt x="3591560" y="3432556"/>
                  </a:lnTo>
                  <a:cubicBezTo>
                    <a:pt x="3591560" y="3520440"/>
                    <a:pt x="3520313" y="3591560"/>
                    <a:pt x="3432556" y="3591560"/>
                  </a:cubicBezTo>
                  <a:lnTo>
                    <a:pt x="3432556" y="3578860"/>
                  </a:lnTo>
                  <a:lnTo>
                    <a:pt x="3432556" y="3591560"/>
                  </a:lnTo>
                  <a:lnTo>
                    <a:pt x="159004" y="3591560"/>
                  </a:lnTo>
                  <a:lnTo>
                    <a:pt x="159004" y="3578860"/>
                  </a:lnTo>
                  <a:lnTo>
                    <a:pt x="159004" y="3591560"/>
                  </a:lnTo>
                  <a:cubicBezTo>
                    <a:pt x="71247" y="3591560"/>
                    <a:pt x="0" y="3520313"/>
                    <a:pt x="0" y="34325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3432556"/>
                  </a:lnTo>
                  <a:lnTo>
                    <a:pt x="12700" y="3432556"/>
                  </a:lnTo>
                  <a:lnTo>
                    <a:pt x="25400" y="3432556"/>
                  </a:lnTo>
                  <a:cubicBezTo>
                    <a:pt x="25400" y="3506343"/>
                    <a:pt x="85217" y="3566160"/>
                    <a:pt x="159004" y="3566160"/>
                  </a:cubicBezTo>
                  <a:lnTo>
                    <a:pt x="3432556" y="3566160"/>
                  </a:lnTo>
                  <a:cubicBezTo>
                    <a:pt x="3506343" y="3566160"/>
                    <a:pt x="3566160" y="3506343"/>
                    <a:pt x="3566160" y="3432556"/>
                  </a:cubicBezTo>
                  <a:lnTo>
                    <a:pt x="3566160" y="159004"/>
                  </a:lnTo>
                  <a:cubicBezTo>
                    <a:pt x="3566160" y="85217"/>
                    <a:pt x="3506343" y="25400"/>
                    <a:pt x="343255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0003155" y="2665095"/>
            <a:ext cx="2693670" cy="211074"/>
            <a:chOff x="0" y="0"/>
            <a:chExt cx="3591560" cy="28143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2700" y="12700"/>
              <a:ext cx="3566160" cy="256032"/>
            </a:xfrm>
            <a:custGeom>
              <a:avLst/>
              <a:gdLst/>
              <a:ahLst/>
              <a:cxnLst/>
              <a:rect r="r" b="b" t="t" l="l"/>
              <a:pathLst>
                <a:path h="25603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F2B766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591560" cy="281432"/>
            </a:xfrm>
            <a:custGeom>
              <a:avLst/>
              <a:gdLst/>
              <a:ahLst/>
              <a:cxnLst/>
              <a:rect r="r" b="b" t="t" l="l"/>
              <a:pathLst>
                <a:path h="281432" w="3591560">
                  <a:moveTo>
                    <a:pt x="12700" y="0"/>
                  </a:moveTo>
                  <a:lnTo>
                    <a:pt x="3578860" y="0"/>
                  </a:lnTo>
                  <a:cubicBezTo>
                    <a:pt x="3585845" y="0"/>
                    <a:pt x="3591560" y="5715"/>
                    <a:pt x="3591560" y="12700"/>
                  </a:cubicBezTo>
                  <a:lnTo>
                    <a:pt x="3591560" y="268732"/>
                  </a:lnTo>
                  <a:cubicBezTo>
                    <a:pt x="3591560" y="275717"/>
                    <a:pt x="3585845" y="281432"/>
                    <a:pt x="3578860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3578860" y="256032"/>
                  </a:lnTo>
                  <a:lnTo>
                    <a:pt x="3578860" y="268732"/>
                  </a:lnTo>
                  <a:lnTo>
                    <a:pt x="3566160" y="268732"/>
                  </a:lnTo>
                  <a:lnTo>
                    <a:pt x="3566160" y="12700"/>
                  </a:lnTo>
                  <a:lnTo>
                    <a:pt x="3578860" y="12700"/>
                  </a:lnTo>
                  <a:lnTo>
                    <a:pt x="35788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2B766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177272" y="2976372"/>
            <a:ext cx="2345436" cy="274320"/>
            <a:chOff x="0" y="0"/>
            <a:chExt cx="3127248" cy="3657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127248" cy="365760"/>
            </a:xfrm>
            <a:custGeom>
              <a:avLst/>
              <a:gdLst/>
              <a:ahLst/>
              <a:cxnLst/>
              <a:rect r="r" b="b" t="t" l="l"/>
              <a:pathLst>
                <a:path h="365760" w="3127248">
                  <a:moveTo>
                    <a:pt x="0" y="0"/>
                  </a:moveTo>
                  <a:lnTo>
                    <a:pt x="3127248" y="0"/>
                  </a:lnTo>
                  <a:lnTo>
                    <a:pt x="31272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597" r="0" b="-11659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3127248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Governance Spike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177272" y="3360420"/>
            <a:ext cx="2345436" cy="493776"/>
            <a:chOff x="0" y="0"/>
            <a:chExt cx="3127248" cy="65836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27248" cy="658368"/>
            </a:xfrm>
            <a:custGeom>
              <a:avLst/>
              <a:gdLst/>
              <a:ahLst/>
              <a:cxnLst/>
              <a:rect r="r" b="b" t="t" l="l"/>
              <a:pathLst>
                <a:path h="658368" w="3127248">
                  <a:moveTo>
                    <a:pt x="0" y="0"/>
                  </a:moveTo>
                  <a:lnTo>
                    <a:pt x="3127248" y="0"/>
                  </a:lnTo>
                  <a:lnTo>
                    <a:pt x="312724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127248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Emergency vote activity surges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177272" y="4869180"/>
            <a:ext cx="2345436" cy="219456"/>
            <a:chOff x="0" y="0"/>
            <a:chExt cx="3127248" cy="29260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127248" cy="292608"/>
            </a:xfrm>
            <a:custGeom>
              <a:avLst/>
              <a:gdLst/>
              <a:ahLst/>
              <a:cxnLst/>
              <a:rect r="r" b="b" t="t" l="l"/>
              <a:pathLst>
                <a:path h="292608" w="3127248">
                  <a:moveTo>
                    <a:pt x="0" y="0"/>
                  </a:moveTo>
                  <a:lnTo>
                    <a:pt x="3127248" y="0"/>
                  </a:lnTo>
                  <a:lnTo>
                    <a:pt x="312724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246" r="0" b="-15824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3127248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2B7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58 → 44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540615" y="3323463"/>
            <a:ext cx="595122" cy="19050"/>
            <a:chOff x="0" y="0"/>
            <a:chExt cx="793496" cy="25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2700" y="0"/>
              <a:ext cx="768096" cy="25400"/>
            </a:xfrm>
            <a:custGeom>
              <a:avLst/>
              <a:gdLst/>
              <a:ahLst/>
              <a:cxnLst/>
              <a:rect r="r" b="b" t="t" l="l"/>
              <a:pathLst>
                <a:path h="25400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226415" y="2665095"/>
            <a:ext cx="2693670" cy="2693670"/>
            <a:chOff x="0" y="0"/>
            <a:chExt cx="3591560" cy="35915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2700" y="12700"/>
              <a:ext cx="3566160" cy="3566160"/>
            </a:xfrm>
            <a:custGeom>
              <a:avLst/>
              <a:gdLst/>
              <a:ahLst/>
              <a:cxnLst/>
              <a:rect r="r" b="b" t="t" l="l"/>
              <a:pathLst>
                <a:path h="3566160" w="35661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19856" y="0"/>
                  </a:lnTo>
                  <a:cubicBezTo>
                    <a:pt x="3500628" y="0"/>
                    <a:pt x="3566160" y="65532"/>
                    <a:pt x="3566160" y="146304"/>
                  </a:cubicBezTo>
                  <a:lnTo>
                    <a:pt x="3566160" y="3419856"/>
                  </a:lnTo>
                  <a:cubicBezTo>
                    <a:pt x="3566160" y="3500628"/>
                    <a:pt x="3500628" y="3566160"/>
                    <a:pt x="341985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591560" cy="3591560"/>
            </a:xfrm>
            <a:custGeom>
              <a:avLst/>
              <a:gdLst/>
              <a:ahLst/>
              <a:cxnLst/>
              <a:rect r="r" b="b" t="t" l="l"/>
              <a:pathLst>
                <a:path h="3591560" w="3591560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lnTo>
                    <a:pt x="3432556" y="0"/>
                  </a:lnTo>
                  <a:lnTo>
                    <a:pt x="3432556" y="12700"/>
                  </a:lnTo>
                  <a:lnTo>
                    <a:pt x="3432556" y="0"/>
                  </a:lnTo>
                  <a:cubicBezTo>
                    <a:pt x="3520440" y="0"/>
                    <a:pt x="3591560" y="71247"/>
                    <a:pt x="3591560" y="159004"/>
                  </a:cubicBezTo>
                  <a:lnTo>
                    <a:pt x="3578860" y="159004"/>
                  </a:lnTo>
                  <a:lnTo>
                    <a:pt x="3591560" y="159004"/>
                  </a:lnTo>
                  <a:lnTo>
                    <a:pt x="3591560" y="3432556"/>
                  </a:lnTo>
                  <a:lnTo>
                    <a:pt x="3578860" y="3432556"/>
                  </a:lnTo>
                  <a:lnTo>
                    <a:pt x="3591560" y="3432556"/>
                  </a:lnTo>
                  <a:cubicBezTo>
                    <a:pt x="3591560" y="3520440"/>
                    <a:pt x="3520313" y="3591560"/>
                    <a:pt x="3432556" y="3591560"/>
                  </a:cubicBezTo>
                  <a:lnTo>
                    <a:pt x="3432556" y="3578860"/>
                  </a:lnTo>
                  <a:lnTo>
                    <a:pt x="3432556" y="3591560"/>
                  </a:lnTo>
                  <a:lnTo>
                    <a:pt x="159004" y="3591560"/>
                  </a:lnTo>
                  <a:lnTo>
                    <a:pt x="159004" y="3578860"/>
                  </a:lnTo>
                  <a:lnTo>
                    <a:pt x="159004" y="3591560"/>
                  </a:lnTo>
                  <a:cubicBezTo>
                    <a:pt x="71247" y="3591560"/>
                    <a:pt x="0" y="3520313"/>
                    <a:pt x="0" y="34325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3432556"/>
                  </a:lnTo>
                  <a:lnTo>
                    <a:pt x="12700" y="3432556"/>
                  </a:lnTo>
                  <a:lnTo>
                    <a:pt x="25400" y="3432556"/>
                  </a:lnTo>
                  <a:cubicBezTo>
                    <a:pt x="25400" y="3506343"/>
                    <a:pt x="85217" y="3566160"/>
                    <a:pt x="159004" y="3566160"/>
                  </a:cubicBezTo>
                  <a:lnTo>
                    <a:pt x="3432556" y="3566160"/>
                  </a:lnTo>
                  <a:cubicBezTo>
                    <a:pt x="3506343" y="3566160"/>
                    <a:pt x="3566160" y="3506343"/>
                    <a:pt x="3566160" y="3432556"/>
                  </a:cubicBezTo>
                  <a:lnTo>
                    <a:pt x="3566160" y="159004"/>
                  </a:lnTo>
                  <a:cubicBezTo>
                    <a:pt x="3566160" y="85217"/>
                    <a:pt x="3506343" y="25400"/>
                    <a:pt x="343255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226415" y="2665095"/>
            <a:ext cx="2693670" cy="211074"/>
            <a:chOff x="0" y="0"/>
            <a:chExt cx="3591560" cy="28143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2700" y="12700"/>
              <a:ext cx="3566160" cy="256032"/>
            </a:xfrm>
            <a:custGeom>
              <a:avLst/>
              <a:gdLst/>
              <a:ahLst/>
              <a:cxnLst/>
              <a:rect r="r" b="b" t="t" l="l"/>
              <a:pathLst>
                <a:path h="25603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E57373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591560" cy="281432"/>
            </a:xfrm>
            <a:custGeom>
              <a:avLst/>
              <a:gdLst/>
              <a:ahLst/>
              <a:cxnLst/>
              <a:rect r="r" b="b" t="t" l="l"/>
              <a:pathLst>
                <a:path h="281432" w="3591560">
                  <a:moveTo>
                    <a:pt x="12700" y="0"/>
                  </a:moveTo>
                  <a:lnTo>
                    <a:pt x="3578860" y="0"/>
                  </a:lnTo>
                  <a:cubicBezTo>
                    <a:pt x="3585845" y="0"/>
                    <a:pt x="3591560" y="5715"/>
                    <a:pt x="3591560" y="12700"/>
                  </a:cubicBezTo>
                  <a:lnTo>
                    <a:pt x="3591560" y="268732"/>
                  </a:lnTo>
                  <a:cubicBezTo>
                    <a:pt x="3591560" y="275717"/>
                    <a:pt x="3585845" y="281432"/>
                    <a:pt x="3578860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3578860" y="256032"/>
                  </a:lnTo>
                  <a:lnTo>
                    <a:pt x="3578860" y="268732"/>
                  </a:lnTo>
                  <a:lnTo>
                    <a:pt x="3566160" y="268732"/>
                  </a:lnTo>
                  <a:lnTo>
                    <a:pt x="3566160" y="12700"/>
                  </a:lnTo>
                  <a:lnTo>
                    <a:pt x="3578860" y="12700"/>
                  </a:lnTo>
                  <a:lnTo>
                    <a:pt x="35788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57373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400532" y="2976372"/>
            <a:ext cx="2345436" cy="274320"/>
            <a:chOff x="0" y="0"/>
            <a:chExt cx="3127248" cy="3657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127248" cy="365760"/>
            </a:xfrm>
            <a:custGeom>
              <a:avLst/>
              <a:gdLst/>
              <a:ahLst/>
              <a:cxnLst/>
              <a:rect r="r" b="b" t="t" l="l"/>
              <a:pathLst>
                <a:path h="365760" w="3127248">
                  <a:moveTo>
                    <a:pt x="0" y="0"/>
                  </a:moveTo>
                  <a:lnTo>
                    <a:pt x="3127248" y="0"/>
                  </a:lnTo>
                  <a:lnTo>
                    <a:pt x="31272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597" r="0" b="-11659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3127248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0212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Crash + Oracle Lag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400532" y="3360420"/>
            <a:ext cx="2345436" cy="493776"/>
            <a:chOff x="0" y="0"/>
            <a:chExt cx="3127248" cy="65836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127248" cy="658368"/>
            </a:xfrm>
            <a:custGeom>
              <a:avLst/>
              <a:gdLst/>
              <a:ahLst/>
              <a:cxnLst/>
              <a:rect r="r" b="b" t="t" l="l"/>
              <a:pathLst>
                <a:path h="658368" w="3127248">
                  <a:moveTo>
                    <a:pt x="0" y="0"/>
                  </a:moveTo>
                  <a:lnTo>
                    <a:pt x="3127248" y="0"/>
                  </a:lnTo>
                  <a:lnTo>
                    <a:pt x="312724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3127248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Liquidations accelerate, feeds stale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400532" y="4869180"/>
            <a:ext cx="2345436" cy="219456"/>
            <a:chOff x="0" y="0"/>
            <a:chExt cx="3127248" cy="29260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127248" cy="292608"/>
            </a:xfrm>
            <a:custGeom>
              <a:avLst/>
              <a:gdLst/>
              <a:ahLst/>
              <a:cxnLst/>
              <a:rect r="r" b="b" t="t" l="l"/>
              <a:pathLst>
                <a:path h="292608" w="3127248">
                  <a:moveTo>
                    <a:pt x="0" y="0"/>
                  </a:moveTo>
                  <a:lnTo>
                    <a:pt x="3127248" y="0"/>
                  </a:lnTo>
                  <a:lnTo>
                    <a:pt x="3127248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246" r="0" b="-158246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3127248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573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44 → 19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123545" y="5913692"/>
            <a:ext cx="2899410" cy="1692402"/>
            <a:chOff x="0" y="0"/>
            <a:chExt cx="3865880" cy="225653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2700" y="12700"/>
              <a:ext cx="3840480" cy="2231136"/>
            </a:xfrm>
            <a:custGeom>
              <a:avLst/>
              <a:gdLst/>
              <a:ahLst/>
              <a:cxnLst/>
              <a:rect r="r" b="b" t="t" l="l"/>
              <a:pathLst>
                <a:path h="2231136" w="3840480">
                  <a:moveTo>
                    <a:pt x="0" y="146304"/>
                  </a:moveTo>
                  <a:cubicBezTo>
                    <a:pt x="0" y="65532"/>
                    <a:pt x="65786" y="0"/>
                    <a:pt x="146939" y="0"/>
                  </a:cubicBezTo>
                  <a:lnTo>
                    <a:pt x="3693541" y="0"/>
                  </a:lnTo>
                  <a:cubicBezTo>
                    <a:pt x="3774694" y="0"/>
                    <a:pt x="3840480" y="65532"/>
                    <a:pt x="3840480" y="146304"/>
                  </a:cubicBezTo>
                  <a:lnTo>
                    <a:pt x="3840480" y="2084832"/>
                  </a:lnTo>
                  <a:cubicBezTo>
                    <a:pt x="3840480" y="2165604"/>
                    <a:pt x="3774694" y="2231136"/>
                    <a:pt x="3693541" y="2231136"/>
                  </a:cubicBezTo>
                  <a:lnTo>
                    <a:pt x="146939" y="2231136"/>
                  </a:lnTo>
                  <a:cubicBezTo>
                    <a:pt x="65786" y="2231136"/>
                    <a:pt x="0" y="2165604"/>
                    <a:pt x="0" y="2084832"/>
                  </a:cubicBezTo>
                  <a:close/>
                </a:path>
              </a:pathLst>
            </a:custGeom>
            <a:solidFill>
              <a:srgbClr val="FBE1E1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65880" cy="2256536"/>
            </a:xfrm>
            <a:custGeom>
              <a:avLst/>
              <a:gdLst/>
              <a:ahLst/>
              <a:cxnLst/>
              <a:rect r="r" b="b" t="t" l="l"/>
              <a:pathLst>
                <a:path h="2256536" w="3865880">
                  <a:moveTo>
                    <a:pt x="0" y="159004"/>
                  </a:moveTo>
                  <a:cubicBezTo>
                    <a:pt x="0" y="71120"/>
                    <a:pt x="71501" y="0"/>
                    <a:pt x="159639" y="0"/>
                  </a:cubicBezTo>
                  <a:lnTo>
                    <a:pt x="3706241" y="0"/>
                  </a:lnTo>
                  <a:lnTo>
                    <a:pt x="3706241" y="12700"/>
                  </a:lnTo>
                  <a:lnTo>
                    <a:pt x="3706241" y="0"/>
                  </a:lnTo>
                  <a:cubicBezTo>
                    <a:pt x="3794379" y="0"/>
                    <a:pt x="3865880" y="71120"/>
                    <a:pt x="3865880" y="159004"/>
                  </a:cubicBezTo>
                  <a:lnTo>
                    <a:pt x="3853180" y="159004"/>
                  </a:lnTo>
                  <a:lnTo>
                    <a:pt x="3865880" y="159004"/>
                  </a:lnTo>
                  <a:lnTo>
                    <a:pt x="3865880" y="2097532"/>
                  </a:lnTo>
                  <a:lnTo>
                    <a:pt x="3853180" y="2097532"/>
                  </a:lnTo>
                  <a:lnTo>
                    <a:pt x="3865880" y="2097532"/>
                  </a:lnTo>
                  <a:cubicBezTo>
                    <a:pt x="3865880" y="2185416"/>
                    <a:pt x="3794379" y="2256536"/>
                    <a:pt x="3706241" y="2256536"/>
                  </a:cubicBezTo>
                  <a:lnTo>
                    <a:pt x="3706241" y="2243836"/>
                  </a:lnTo>
                  <a:lnTo>
                    <a:pt x="3706241" y="2256536"/>
                  </a:lnTo>
                  <a:lnTo>
                    <a:pt x="159639" y="2256536"/>
                  </a:lnTo>
                  <a:lnTo>
                    <a:pt x="159639" y="2243836"/>
                  </a:lnTo>
                  <a:lnTo>
                    <a:pt x="159639" y="2256536"/>
                  </a:lnTo>
                  <a:cubicBezTo>
                    <a:pt x="71501" y="2256536"/>
                    <a:pt x="0" y="2185416"/>
                    <a:pt x="0" y="2097532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097532"/>
                  </a:lnTo>
                  <a:lnTo>
                    <a:pt x="12700" y="2097532"/>
                  </a:lnTo>
                  <a:lnTo>
                    <a:pt x="25400" y="2097532"/>
                  </a:lnTo>
                  <a:cubicBezTo>
                    <a:pt x="25400" y="2171319"/>
                    <a:pt x="85471" y="2231136"/>
                    <a:pt x="159639" y="2231136"/>
                  </a:cubicBezTo>
                  <a:lnTo>
                    <a:pt x="3706241" y="2231136"/>
                  </a:lnTo>
                  <a:cubicBezTo>
                    <a:pt x="3780409" y="2231136"/>
                    <a:pt x="3840480" y="2171319"/>
                    <a:pt x="3840480" y="2097532"/>
                  </a:cubicBezTo>
                  <a:lnTo>
                    <a:pt x="3840480" y="159004"/>
                  </a:lnTo>
                  <a:cubicBezTo>
                    <a:pt x="3840480" y="85217"/>
                    <a:pt x="3780409" y="25400"/>
                    <a:pt x="3706241" y="25400"/>
                  </a:cubicBezTo>
                  <a:lnTo>
                    <a:pt x="159639" y="25400"/>
                  </a:lnTo>
                  <a:lnTo>
                    <a:pt x="159639" y="12700"/>
                  </a:lnTo>
                  <a:lnTo>
                    <a:pt x="159639" y="25400"/>
                  </a:lnTo>
                  <a:cubicBezTo>
                    <a:pt x="85471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E57373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4230350" y="6377940"/>
            <a:ext cx="685800" cy="164592"/>
            <a:chOff x="0" y="0"/>
            <a:chExt cx="914400" cy="21945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14400" cy="219456"/>
            </a:xfrm>
            <a:custGeom>
              <a:avLst/>
              <a:gdLst/>
              <a:ahLst/>
              <a:cxnLst/>
              <a:rect r="r" b="b" t="t" l="l"/>
              <a:pathLst>
                <a:path h="21945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914400" cy="21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6B76"/>
                  </a:solidFill>
                  <a:latin typeface="Aptos"/>
                  <a:ea typeface="Aptos"/>
                  <a:cs typeface="Aptos"/>
                  <a:sym typeface="Aptos"/>
                </a:rPr>
                <a:t>Action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995720" y="6656832"/>
            <a:ext cx="1371600" cy="384048"/>
            <a:chOff x="0" y="0"/>
            <a:chExt cx="1828800" cy="51206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828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18288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E573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EXIT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696825" y="8068510"/>
            <a:ext cx="4379595" cy="321036"/>
            <a:chOff x="0" y="0"/>
            <a:chExt cx="5839460" cy="4280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839460" cy="428048"/>
            </a:xfrm>
            <a:custGeom>
              <a:avLst/>
              <a:gdLst/>
              <a:ahLst/>
              <a:cxnLst/>
              <a:rect r="r" b="b" t="t" l="l"/>
              <a:pathLst>
                <a:path h="428048" w="5839460">
                  <a:moveTo>
                    <a:pt x="0" y="0"/>
                  </a:moveTo>
                  <a:lnTo>
                    <a:pt x="5839460" y="0"/>
                  </a:lnTo>
                  <a:lnTo>
                    <a:pt x="5839460" y="428048"/>
                  </a:lnTo>
                  <a:lnTo>
                    <a:pt x="0" y="428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242" r="-34667" b="-3006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5839460" cy="428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D4A01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Maximum safe size: 3.6% of protocol TVL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DAHF6rdWAOs</dc:identifier>
  <dcterms:modified xsi:type="dcterms:W3CDTF">2011-08-01T06:04:30Z</dcterms:modified>
  <cp:revision>1</cp:revision>
  <dc:title>PRISM_AP.pptx</dc:title>
</cp:coreProperties>
</file>